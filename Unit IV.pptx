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64" r:id="rId3"/>
    <p:sldId id="265" r:id="rId4"/>
    <p:sldId id="258" r:id="rId5"/>
    <p:sldId id="266" r:id="rId6"/>
    <p:sldId id="267" r:id="rId7"/>
    <p:sldId id="259" r:id="rId8"/>
    <p:sldId id="268" r:id="rId9"/>
    <p:sldId id="269" r:id="rId10"/>
    <p:sldId id="270" r:id="rId11"/>
    <p:sldId id="260" r:id="rId12"/>
    <p:sldId id="272" r:id="rId13"/>
    <p:sldId id="271" r:id="rId14"/>
    <p:sldId id="261" r:id="rId15"/>
    <p:sldId id="277" r:id="rId16"/>
    <p:sldId id="276" r:id="rId17"/>
    <p:sldId id="275" r:id="rId18"/>
    <p:sldId id="274" r:id="rId19"/>
    <p:sldId id="273" r:id="rId20"/>
    <p:sldId id="278" r:id="rId21"/>
    <p:sldId id="279" r:id="rId22"/>
    <p:sldId id="280" r:id="rId23"/>
    <p:sldId id="262" r:id="rId24"/>
    <p:sldId id="281" r:id="rId25"/>
    <p:sldId id="263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13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60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06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03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63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21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562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45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16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74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A8611C4-EEDE-4FC1-9056-8B2440A57D23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2194E0-4B7B-45BC-A35A-44D20EB5FFB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9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4BB7-A198-4213-AFE8-EEBBCB541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Unit IV </a:t>
            </a:r>
            <a:br>
              <a:rPr lang="en-IN" dirty="0"/>
            </a:br>
            <a:r>
              <a:rPr lang="en-IN" dirty="0"/>
              <a:t>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EDA20-FD25-4E32-9430-8E1136216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85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8876-15AE-4F93-B9EC-5AB3005B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Visualization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8F1B-3DA6-40AE-B43F-91C069BB8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51253" cy="44788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Data Visualization</a:t>
            </a:r>
            <a:r>
              <a:rPr lang="en-US" sz="2400" dirty="0"/>
              <a:t> is the </a:t>
            </a:r>
            <a:r>
              <a:rPr lang="en-US" sz="2400" b="1" dirty="0"/>
              <a:t>graphical representation of information and data</a:t>
            </a:r>
            <a:r>
              <a:rPr lang="en-US" sz="2400" dirty="0"/>
              <a:t>. It uses visual elements like </a:t>
            </a:r>
            <a:r>
              <a:rPr lang="en-US" sz="2400" b="1" dirty="0"/>
              <a:t>charts, graphs, and plots</a:t>
            </a:r>
            <a:r>
              <a:rPr lang="en-US" sz="2400" dirty="0"/>
              <a:t> to make complex data easier to understand, interpret, and communicate.</a:t>
            </a:r>
          </a:p>
          <a:p>
            <a:r>
              <a:rPr lang="en-US" sz="2400" b="1" dirty="0"/>
              <a:t>Importance: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Simplifies complex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Helps in identifying patterns and correlations.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Facilitates better decision-making.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Communicates data insights clearly to others.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9743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1682-1ACE-4D68-A382-B045B67B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and Importing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879A8-F6B6-440A-AC3C-470D93941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05720" cy="44111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Before starting with visualization, install the necessary libraries using pip: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         pip install matplotlib seaborn </a:t>
            </a:r>
            <a:r>
              <a:rPr lang="en-US" sz="2400" dirty="0" err="1">
                <a:latin typeface="Consolas" panose="020B0609020204030204" pitchFamily="49" charset="0"/>
              </a:rPr>
              <a:t>numpy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800" dirty="0"/>
              <a:t>Then, import them in Python: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import </a:t>
            </a:r>
            <a:r>
              <a:rPr lang="en-US" sz="2400" dirty="0" err="1">
                <a:latin typeface="Consolas" panose="020B0609020204030204" pitchFamily="49" charset="0"/>
              </a:rPr>
              <a:t>matplotlib.pyplot</a:t>
            </a:r>
            <a:r>
              <a:rPr lang="en-US" sz="2400" dirty="0">
                <a:latin typeface="Consolas" panose="020B0609020204030204" pitchFamily="49" charset="0"/>
              </a:rPr>
              <a:t> as </a:t>
            </a:r>
            <a:r>
              <a:rPr lang="en-US" sz="2400" dirty="0" err="1">
                <a:latin typeface="Consolas" panose="020B0609020204030204" pitchFamily="49" charset="0"/>
              </a:rPr>
              <a:t>plt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      import seaborn as </a:t>
            </a:r>
            <a:r>
              <a:rPr lang="en-US" sz="2400" dirty="0" err="1">
                <a:latin typeface="Consolas" panose="020B0609020204030204" pitchFamily="49" charset="0"/>
              </a:rPr>
              <a:t>sns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         import </a:t>
            </a:r>
            <a:r>
              <a:rPr lang="en-US" sz="2400" dirty="0" err="1">
                <a:latin typeface="Consolas" panose="020B0609020204030204" pitchFamily="49" charset="0"/>
              </a:rPr>
              <a:t>numpy</a:t>
            </a:r>
            <a:r>
              <a:rPr lang="en-US" sz="2400" dirty="0">
                <a:latin typeface="Consolas" panose="020B0609020204030204" pitchFamily="49" charset="0"/>
              </a:rPr>
              <a:t> as np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12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7320-BC82-4FD5-83AE-1B96704E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E008-512E-4F64-9FA9-961F652C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line plot</a:t>
            </a:r>
            <a:r>
              <a:rPr lang="en-US" sz="2800" dirty="0"/>
              <a:t> is a type of chart that displays data points connected by straight lines.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is used to visualize </a:t>
            </a:r>
            <a:r>
              <a:rPr lang="en-US" sz="2800" b="1" dirty="0"/>
              <a:t>trends, patterns, or relationships</a:t>
            </a:r>
            <a:r>
              <a:rPr lang="en-US" sz="2800" dirty="0"/>
              <a:t> between two continuous variables, often over </a:t>
            </a:r>
            <a:r>
              <a:rPr lang="en-US" sz="2800" b="1" dirty="0"/>
              <a:t>time or sequence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66772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1DCD-A815-4609-8145-201234EF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Line Plots with Matplotlib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4D48B-64E8-4B69-B71D-C6CFB49B6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matplotlib.pyplot</a:t>
            </a:r>
            <a:r>
              <a:rPr lang="en-IN" dirty="0">
                <a:latin typeface="Consolas" panose="020B0609020204030204" pitchFamily="49" charset="0"/>
              </a:rPr>
              <a:t> as </a:t>
            </a:r>
            <a:r>
              <a:rPr lang="en-IN" dirty="0" err="1">
                <a:latin typeface="Consolas" panose="020B0609020204030204" pitchFamily="49" charset="0"/>
              </a:rPr>
              <a:t>plt</a:t>
            </a: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numpy</a:t>
            </a:r>
            <a:r>
              <a:rPr lang="en-IN" dirty="0">
                <a:latin typeface="Consolas" panose="020B0609020204030204" pitchFamily="49" charset="0"/>
              </a:rPr>
              <a:t> as np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x = </a:t>
            </a:r>
            <a:r>
              <a:rPr lang="en-IN" dirty="0" err="1">
                <a:latin typeface="Consolas" panose="020B0609020204030204" pitchFamily="49" charset="0"/>
              </a:rPr>
              <a:t>np.array</a:t>
            </a:r>
            <a:r>
              <a:rPr lang="en-IN" dirty="0">
                <a:latin typeface="Consolas" panose="020B0609020204030204" pitchFamily="49" charset="0"/>
              </a:rPr>
              <a:t>([1, 2, 3, 4, 5])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y = </a:t>
            </a:r>
            <a:r>
              <a:rPr lang="en-IN" dirty="0" err="1">
                <a:latin typeface="Consolas" panose="020B0609020204030204" pitchFamily="49" charset="0"/>
              </a:rPr>
              <a:t>np.array</a:t>
            </a:r>
            <a:r>
              <a:rPr lang="en-IN" dirty="0">
                <a:latin typeface="Consolas" panose="020B0609020204030204" pitchFamily="49" charset="0"/>
              </a:rPr>
              <a:t>([2, 4, 6, 8, 10])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 err="1">
                <a:latin typeface="Consolas" panose="020B0609020204030204" pitchFamily="49" charset="0"/>
              </a:rPr>
              <a:t>plt.plot</a:t>
            </a:r>
            <a:r>
              <a:rPr lang="en-IN" dirty="0">
                <a:latin typeface="Consolas" panose="020B0609020204030204" pitchFamily="49" charset="0"/>
              </a:rPr>
              <a:t>(x, y)  # creates a line plot</a:t>
            </a:r>
          </a:p>
          <a:p>
            <a:pPr marL="0" indent="0">
              <a:buNone/>
            </a:pPr>
            <a:r>
              <a:rPr lang="en-IN" dirty="0" err="1">
                <a:latin typeface="Consolas" panose="020B0609020204030204" pitchFamily="49" charset="0"/>
              </a:rPr>
              <a:t>plt.show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74009-FF95-40C1-B097-6B688B6D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219" y="2006599"/>
            <a:ext cx="4055381" cy="34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66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3E0E-0379-4099-A27F-947A42601E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8134" y="-618596"/>
            <a:ext cx="10058400" cy="1449387"/>
          </a:xfrm>
        </p:spPr>
        <p:txBody>
          <a:bodyPr/>
          <a:lstStyle/>
          <a:p>
            <a:r>
              <a:rPr lang="en-US" dirty="0"/>
              <a:t>Example : </a:t>
            </a:r>
            <a:r>
              <a:rPr lang="en-IN" dirty="0"/>
              <a:t>Simple Line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2E29F-1D72-46C5-94CC-08B94860BE8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9533" y="1007533"/>
            <a:ext cx="11692467" cy="4861455"/>
          </a:xfrm>
        </p:spPr>
        <p:txBody>
          <a:bodyPr>
            <a:normAutofit fontScale="25000" lnSpcReduction="20000"/>
          </a:bodyPr>
          <a:lstStyle/>
          <a:p>
            <a:r>
              <a:rPr lang="en-IN" sz="5500" dirty="0">
                <a:latin typeface="Consolas" panose="020B0609020204030204" pitchFamily="49" charset="0"/>
              </a:rPr>
              <a:t>import </a:t>
            </a:r>
            <a:r>
              <a:rPr lang="en-IN" sz="5500" dirty="0" err="1">
                <a:latin typeface="Consolas" panose="020B0609020204030204" pitchFamily="49" charset="0"/>
              </a:rPr>
              <a:t>matplotlib.pyplot</a:t>
            </a:r>
            <a:r>
              <a:rPr lang="en-IN" sz="5500" dirty="0">
                <a:latin typeface="Consolas" panose="020B0609020204030204" pitchFamily="49" charset="0"/>
              </a:rPr>
              <a:t> as </a:t>
            </a:r>
            <a:r>
              <a:rPr lang="en-IN" sz="5500" dirty="0" err="1">
                <a:latin typeface="Consolas" panose="020B0609020204030204" pitchFamily="49" charset="0"/>
              </a:rPr>
              <a:t>plt</a:t>
            </a:r>
            <a:endParaRPr lang="en-IN" sz="5500" dirty="0">
              <a:latin typeface="Consolas" panose="020B0609020204030204" pitchFamily="49" charset="0"/>
            </a:endParaRPr>
          </a:p>
          <a:p>
            <a:endParaRPr lang="en-IN" sz="5500" dirty="0">
              <a:latin typeface="Consolas" panose="020B0609020204030204" pitchFamily="49" charset="0"/>
            </a:endParaRPr>
          </a:p>
          <a:p>
            <a:r>
              <a:rPr lang="en-IN" sz="5500" dirty="0">
                <a:latin typeface="Consolas" panose="020B0609020204030204" pitchFamily="49" charset="0"/>
              </a:rPr>
              <a:t>months = ['Jan', 'Feb', 'Mar', 'Apr', 'May', 'Jun']</a:t>
            </a:r>
          </a:p>
          <a:p>
            <a:r>
              <a:rPr lang="en-IN" sz="5500" dirty="0">
                <a:latin typeface="Consolas" panose="020B0609020204030204" pitchFamily="49" charset="0"/>
              </a:rPr>
              <a:t>sales = [150, 200, 250, 300, 280, 350]</a:t>
            </a:r>
          </a:p>
          <a:p>
            <a:endParaRPr lang="en-IN" sz="5500" dirty="0">
              <a:latin typeface="Consolas" panose="020B0609020204030204" pitchFamily="49" charset="0"/>
            </a:endParaRPr>
          </a:p>
          <a:p>
            <a:r>
              <a:rPr lang="en-IN" sz="5500" dirty="0">
                <a:latin typeface="Consolas" panose="020B0609020204030204" pitchFamily="49" charset="0"/>
              </a:rPr>
              <a:t># Plot</a:t>
            </a:r>
          </a:p>
          <a:p>
            <a:r>
              <a:rPr lang="en-IN" sz="5500" dirty="0" err="1">
                <a:latin typeface="Consolas" panose="020B0609020204030204" pitchFamily="49" charset="0"/>
              </a:rPr>
              <a:t>plt.plot</a:t>
            </a:r>
            <a:r>
              <a:rPr lang="en-IN" sz="5500" dirty="0">
                <a:latin typeface="Consolas" panose="020B0609020204030204" pitchFamily="49" charset="0"/>
              </a:rPr>
              <a:t>(months, sales, </a:t>
            </a:r>
            <a:r>
              <a:rPr lang="en-IN" sz="5500" dirty="0" err="1">
                <a:latin typeface="Consolas" panose="020B0609020204030204" pitchFamily="49" charset="0"/>
              </a:rPr>
              <a:t>color</a:t>
            </a:r>
            <a:r>
              <a:rPr lang="en-IN" sz="5500" dirty="0">
                <a:latin typeface="Consolas" panose="020B0609020204030204" pitchFamily="49" charset="0"/>
              </a:rPr>
              <a:t>='blue', marker='o', </a:t>
            </a:r>
            <a:r>
              <a:rPr lang="en-IN" sz="5500" dirty="0" err="1">
                <a:latin typeface="Consolas" panose="020B0609020204030204" pitchFamily="49" charset="0"/>
              </a:rPr>
              <a:t>linestyle</a:t>
            </a:r>
            <a:r>
              <a:rPr lang="en-IN" sz="5500" dirty="0">
                <a:latin typeface="Consolas" panose="020B0609020204030204" pitchFamily="49" charset="0"/>
              </a:rPr>
              <a:t>='-', linewidth=2)</a:t>
            </a:r>
          </a:p>
          <a:p>
            <a:endParaRPr lang="en-IN" sz="5500" dirty="0">
              <a:latin typeface="Consolas" panose="020B0609020204030204" pitchFamily="49" charset="0"/>
            </a:endParaRPr>
          </a:p>
          <a:p>
            <a:r>
              <a:rPr lang="en-IN" sz="5500" dirty="0">
                <a:latin typeface="Consolas" panose="020B0609020204030204" pitchFamily="49" charset="0"/>
              </a:rPr>
              <a:t># Add title and labels</a:t>
            </a:r>
          </a:p>
          <a:p>
            <a:r>
              <a:rPr lang="en-IN" sz="5500" dirty="0" err="1">
                <a:latin typeface="Consolas" panose="020B0609020204030204" pitchFamily="49" charset="0"/>
              </a:rPr>
              <a:t>plt.title</a:t>
            </a:r>
            <a:r>
              <a:rPr lang="en-IN" sz="5500" dirty="0">
                <a:latin typeface="Consolas" panose="020B0609020204030204" pitchFamily="49" charset="0"/>
              </a:rPr>
              <a:t>("Monthly Sales Trend")</a:t>
            </a:r>
          </a:p>
          <a:p>
            <a:r>
              <a:rPr lang="en-IN" sz="5500" dirty="0" err="1">
                <a:latin typeface="Consolas" panose="020B0609020204030204" pitchFamily="49" charset="0"/>
              </a:rPr>
              <a:t>plt.xlabel</a:t>
            </a:r>
            <a:r>
              <a:rPr lang="en-IN" sz="5500" dirty="0">
                <a:latin typeface="Consolas" panose="020B0609020204030204" pitchFamily="49" charset="0"/>
              </a:rPr>
              <a:t>("Month")</a:t>
            </a:r>
          </a:p>
          <a:p>
            <a:r>
              <a:rPr lang="en-IN" sz="5500" dirty="0" err="1">
                <a:latin typeface="Consolas" panose="020B0609020204030204" pitchFamily="49" charset="0"/>
              </a:rPr>
              <a:t>plt.ylabel</a:t>
            </a:r>
            <a:r>
              <a:rPr lang="en-IN" sz="5500" dirty="0">
                <a:latin typeface="Consolas" panose="020B0609020204030204" pitchFamily="49" charset="0"/>
              </a:rPr>
              <a:t>("Sales")</a:t>
            </a:r>
          </a:p>
          <a:p>
            <a:r>
              <a:rPr lang="en-IN" sz="5500" dirty="0" err="1">
                <a:latin typeface="Consolas" panose="020B0609020204030204" pitchFamily="49" charset="0"/>
              </a:rPr>
              <a:t>plt.grid</a:t>
            </a:r>
            <a:r>
              <a:rPr lang="en-IN" sz="5500" dirty="0">
                <a:latin typeface="Consolas" panose="020B0609020204030204" pitchFamily="49" charset="0"/>
              </a:rPr>
              <a:t>(True)</a:t>
            </a:r>
          </a:p>
          <a:p>
            <a:r>
              <a:rPr lang="en-IN" sz="5500" dirty="0" err="1">
                <a:latin typeface="Consolas" panose="020B0609020204030204" pitchFamily="49" charset="0"/>
              </a:rPr>
              <a:t>plt.show</a:t>
            </a:r>
            <a:r>
              <a:rPr lang="en-IN" sz="5500" dirty="0">
                <a:latin typeface="Consolas" panose="020B0609020204030204" pitchFamily="49" charset="0"/>
              </a:rPr>
              <a:t>()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116AC-3D29-4342-9D33-E0FB026DC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466" y="1903973"/>
            <a:ext cx="3556000" cy="306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05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A50A-AFB1-4854-82E6-2ADA0DD1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Scatter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D98F6-60F1-4904-BBCD-9AB5A734B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739120" cy="440266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scatter plot</a:t>
            </a:r>
            <a:r>
              <a:rPr lang="en-US" sz="2800" dirty="0"/>
              <a:t> is a type of chart that displays </a:t>
            </a:r>
            <a:r>
              <a:rPr lang="en-US" sz="2800" b="1" dirty="0"/>
              <a:t>individual data points</a:t>
            </a:r>
            <a:r>
              <a:rPr lang="en-US" sz="2800" dirty="0"/>
              <a:t> on a two-dimensional graph. It is used to visualize the </a:t>
            </a:r>
            <a:r>
              <a:rPr lang="en-US" sz="2800" b="1" dirty="0"/>
              <a:t>relationship or correlation between two variables</a:t>
            </a:r>
            <a:r>
              <a:rPr lang="en-US" sz="2800" dirty="0"/>
              <a:t>. Each point represents a single observation.</a:t>
            </a:r>
          </a:p>
          <a:p>
            <a:r>
              <a:rPr lang="en-US" sz="2800" b="1" dirty="0"/>
              <a:t>Key uses:</a:t>
            </a: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Identify trends or patterns between variables.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Detect clusters or groups in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Spot outliers or unusual points.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3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8756-29C3-4058-8BDA-C35328B2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Scatter Plots with Matplotlib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286C-4440-4117-BA96-71C2CF654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845734"/>
            <a:ext cx="10058400" cy="4023360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matplotlib.pyplot</a:t>
            </a:r>
            <a:r>
              <a:rPr lang="en-IN" dirty="0">
                <a:latin typeface="Consolas" panose="020B0609020204030204" pitchFamily="49" charset="0"/>
              </a:rPr>
              <a:t> as </a:t>
            </a:r>
            <a:r>
              <a:rPr lang="en-IN" dirty="0" err="1">
                <a:latin typeface="Consolas" panose="020B0609020204030204" pitchFamily="49" charset="0"/>
              </a:rPr>
              <a:t>plt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numpy</a:t>
            </a:r>
            <a:r>
              <a:rPr lang="en-IN" dirty="0">
                <a:latin typeface="Consolas" panose="020B0609020204030204" pitchFamily="49" charset="0"/>
              </a:rPr>
              <a:t> as np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# Generate data</a:t>
            </a:r>
          </a:p>
          <a:p>
            <a:r>
              <a:rPr lang="en-IN" dirty="0">
                <a:latin typeface="Consolas" panose="020B0609020204030204" pitchFamily="49" charset="0"/>
              </a:rPr>
              <a:t>x = </a:t>
            </a:r>
            <a:r>
              <a:rPr lang="en-IN" dirty="0" err="1">
                <a:latin typeface="Consolas" panose="020B0609020204030204" pitchFamily="49" charset="0"/>
              </a:rPr>
              <a:t>np.array</a:t>
            </a:r>
            <a:r>
              <a:rPr lang="en-IN" dirty="0">
                <a:latin typeface="Consolas" panose="020B0609020204030204" pitchFamily="49" charset="0"/>
              </a:rPr>
              <a:t>([5, 7, 8, 7, 2, 17, 2, 9, 4, 11])</a:t>
            </a:r>
          </a:p>
          <a:p>
            <a:r>
              <a:rPr lang="en-IN" dirty="0">
                <a:latin typeface="Consolas" panose="020B0609020204030204" pitchFamily="49" charset="0"/>
              </a:rPr>
              <a:t>y = </a:t>
            </a:r>
            <a:r>
              <a:rPr lang="en-IN" dirty="0" err="1">
                <a:latin typeface="Consolas" panose="020B0609020204030204" pitchFamily="49" charset="0"/>
              </a:rPr>
              <a:t>np.array</a:t>
            </a:r>
            <a:r>
              <a:rPr lang="en-IN" dirty="0">
                <a:latin typeface="Consolas" panose="020B0609020204030204" pitchFamily="49" charset="0"/>
              </a:rPr>
              <a:t>([99, 86, 87, 88, 100, 86, 103, 87, 94, 78])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# Create scatter plot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plt.scatter</a:t>
            </a:r>
            <a:r>
              <a:rPr lang="en-IN" dirty="0">
                <a:latin typeface="Consolas" panose="020B0609020204030204" pitchFamily="49" charset="0"/>
              </a:rPr>
              <a:t>(x, y)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plt.show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218A2-D74A-4437-848A-05AFBC54C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343" y="1845734"/>
            <a:ext cx="4068115" cy="351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1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5465-9337-4C67-8845-3654D1DCA7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7067" y="-724694"/>
            <a:ext cx="10058400" cy="1449387"/>
          </a:xfrm>
        </p:spPr>
        <p:txBody>
          <a:bodyPr/>
          <a:lstStyle/>
          <a:p>
            <a:r>
              <a:rPr lang="en-US" dirty="0"/>
              <a:t>Example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4F217-CACE-45DA-896A-084CF38E19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7933" y="872067"/>
            <a:ext cx="11794067" cy="4996921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matplotlib.pyplot</a:t>
            </a:r>
            <a:r>
              <a:rPr lang="en-IN" dirty="0">
                <a:latin typeface="Consolas" panose="020B0609020204030204" pitchFamily="49" charset="0"/>
              </a:rPr>
              <a:t> as </a:t>
            </a:r>
            <a:r>
              <a:rPr lang="en-IN" dirty="0" err="1">
                <a:latin typeface="Consolas" panose="020B0609020204030204" pitchFamily="49" charset="0"/>
              </a:rPr>
              <a:t>plt</a:t>
            </a:r>
            <a:endParaRPr lang="en-IN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# Data: Study Hours vs. Scores</a:t>
            </a:r>
          </a:p>
          <a:p>
            <a:r>
              <a:rPr lang="en-IN" dirty="0" err="1">
                <a:latin typeface="Consolas" panose="020B0609020204030204" pitchFamily="49" charset="0"/>
              </a:rPr>
              <a:t>study_hours</a:t>
            </a:r>
            <a:r>
              <a:rPr lang="en-IN" dirty="0">
                <a:latin typeface="Consolas" panose="020B0609020204030204" pitchFamily="49" charset="0"/>
              </a:rPr>
              <a:t> = [1, 2, 3, 4, 5, 6, 7, 8]</a:t>
            </a:r>
          </a:p>
          <a:p>
            <a:r>
              <a:rPr lang="en-IN" dirty="0">
                <a:latin typeface="Consolas" panose="020B0609020204030204" pitchFamily="49" charset="0"/>
              </a:rPr>
              <a:t>scores = [35, 40, 50, 55, 60, 65, 70, 75]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# Scatter plot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plt.scatter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study_hours</a:t>
            </a:r>
            <a:r>
              <a:rPr lang="en-IN" dirty="0">
                <a:latin typeface="Consolas" panose="020B0609020204030204" pitchFamily="49" charset="0"/>
              </a:rPr>
              <a:t>, scores, </a:t>
            </a:r>
            <a:r>
              <a:rPr lang="en-IN" dirty="0" err="1">
                <a:latin typeface="Consolas" panose="020B0609020204030204" pitchFamily="49" charset="0"/>
              </a:rPr>
              <a:t>color</a:t>
            </a:r>
            <a:r>
              <a:rPr lang="en-IN" dirty="0">
                <a:latin typeface="Consolas" panose="020B0609020204030204" pitchFamily="49" charset="0"/>
              </a:rPr>
              <a:t>='red', marker='o')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# Add title and labels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plt.title</a:t>
            </a:r>
            <a:r>
              <a:rPr lang="en-IN" dirty="0">
                <a:latin typeface="Consolas" panose="020B0609020204030204" pitchFamily="49" charset="0"/>
              </a:rPr>
              <a:t>("Study Hours vs. Exam Scores")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plt.xlabel</a:t>
            </a:r>
            <a:r>
              <a:rPr lang="en-IN" dirty="0">
                <a:latin typeface="Consolas" panose="020B0609020204030204" pitchFamily="49" charset="0"/>
              </a:rPr>
              <a:t>("Study Hours")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plt.ylabel</a:t>
            </a:r>
            <a:r>
              <a:rPr lang="en-IN" dirty="0">
                <a:latin typeface="Consolas" panose="020B0609020204030204" pitchFamily="49" charset="0"/>
              </a:rPr>
              <a:t>("Scores")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plt.show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DCED4-51F7-4D53-9AE0-9845A034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338" y="1270000"/>
            <a:ext cx="4126985" cy="356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9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DA454-407C-491C-8BE6-37E20CDF350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4475" y="580756"/>
            <a:ext cx="11703050" cy="6192577"/>
          </a:xfrm>
        </p:spPr>
        <p:txBody>
          <a:bodyPr>
            <a:noAutofit/>
          </a:bodyPr>
          <a:lstStyle/>
          <a:p>
            <a:r>
              <a:rPr lang="en-IN" sz="1100" dirty="0">
                <a:latin typeface="Consolas" panose="020B0609020204030204" pitchFamily="49" charset="0"/>
              </a:rPr>
              <a:t>import </a:t>
            </a:r>
            <a:r>
              <a:rPr lang="en-IN" sz="1100" dirty="0" err="1">
                <a:latin typeface="Consolas" panose="020B0609020204030204" pitchFamily="49" charset="0"/>
              </a:rPr>
              <a:t>matplotlib.pyplot</a:t>
            </a:r>
            <a:r>
              <a:rPr lang="en-IN" sz="1100" dirty="0">
                <a:latin typeface="Consolas" panose="020B0609020204030204" pitchFamily="49" charset="0"/>
              </a:rPr>
              <a:t> as </a:t>
            </a:r>
            <a:r>
              <a:rPr lang="en-IN" sz="1100" dirty="0" err="1">
                <a:latin typeface="Consolas" panose="020B0609020204030204" pitchFamily="49" charset="0"/>
              </a:rPr>
              <a:t>plt</a:t>
            </a:r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 err="1">
                <a:latin typeface="Consolas" panose="020B0609020204030204" pitchFamily="49" charset="0"/>
              </a:rPr>
              <a:t>study_hours_class_a</a:t>
            </a:r>
            <a:r>
              <a:rPr lang="en-IN" sz="1100" dirty="0">
                <a:latin typeface="Consolas" panose="020B0609020204030204" pitchFamily="49" charset="0"/>
              </a:rPr>
              <a:t> = [1, 2, 3, 4, 5, 6, 7, 8]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scores_class_a</a:t>
            </a:r>
            <a:r>
              <a:rPr lang="en-IN" sz="1100" dirty="0">
                <a:latin typeface="Consolas" panose="020B0609020204030204" pitchFamily="49" charset="0"/>
              </a:rPr>
              <a:t> = [35, 40, 50, 55, 60, 65, 70, 75]</a:t>
            </a:r>
          </a:p>
          <a:p>
            <a:endParaRPr lang="en-IN" sz="400" dirty="0">
              <a:latin typeface="Consolas" panose="020B0609020204030204" pitchFamily="49" charset="0"/>
            </a:endParaRPr>
          </a:p>
          <a:p>
            <a:r>
              <a:rPr lang="en-IN" sz="1100" dirty="0" err="1">
                <a:latin typeface="Consolas" panose="020B0609020204030204" pitchFamily="49" charset="0"/>
              </a:rPr>
              <a:t>study_hours_class_b</a:t>
            </a:r>
            <a:r>
              <a:rPr lang="en-IN" sz="1100" dirty="0">
                <a:latin typeface="Consolas" panose="020B0609020204030204" pitchFamily="49" charset="0"/>
              </a:rPr>
              <a:t> = [1, 2, 3, 4, 5, 6, 7, 8]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scores_class_b</a:t>
            </a:r>
            <a:r>
              <a:rPr lang="en-IN" sz="1100" dirty="0">
                <a:latin typeface="Consolas" panose="020B0609020204030204" pitchFamily="49" charset="0"/>
              </a:rPr>
              <a:t> = [30, 38, 45, 50, 55, 60, 65, 68]</a:t>
            </a:r>
          </a:p>
          <a:p>
            <a:endParaRPr lang="en-IN" sz="4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# Scatter plot for Class A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plt.scatter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 err="1">
                <a:latin typeface="Consolas" panose="020B0609020204030204" pitchFamily="49" charset="0"/>
              </a:rPr>
              <a:t>study_hours_class_a</a:t>
            </a:r>
            <a:r>
              <a:rPr lang="en-IN" sz="1100" dirty="0">
                <a:latin typeface="Consolas" panose="020B0609020204030204" pitchFamily="49" charset="0"/>
              </a:rPr>
              <a:t>, </a:t>
            </a:r>
            <a:r>
              <a:rPr lang="en-IN" sz="1100" dirty="0" err="1">
                <a:latin typeface="Consolas" panose="020B0609020204030204" pitchFamily="49" charset="0"/>
              </a:rPr>
              <a:t>scores_class_a</a:t>
            </a:r>
            <a:r>
              <a:rPr lang="en-IN" sz="1100" dirty="0">
                <a:latin typeface="Consolas" panose="020B0609020204030204" pitchFamily="49" charset="0"/>
              </a:rPr>
              <a:t>, </a:t>
            </a:r>
            <a:r>
              <a:rPr lang="en-IN" sz="1100" dirty="0" err="1">
                <a:latin typeface="Consolas" panose="020B0609020204030204" pitchFamily="49" charset="0"/>
              </a:rPr>
              <a:t>color</a:t>
            </a:r>
            <a:r>
              <a:rPr lang="en-IN" sz="1100" dirty="0">
                <a:latin typeface="Consolas" panose="020B0609020204030204" pitchFamily="49" charset="0"/>
              </a:rPr>
              <a:t>='blue', marker='o', label='Class A')</a:t>
            </a:r>
          </a:p>
          <a:p>
            <a:endParaRPr lang="en-IN" sz="4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# Scatter plot for Class B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plt.scatter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 err="1">
                <a:latin typeface="Consolas" panose="020B0609020204030204" pitchFamily="49" charset="0"/>
              </a:rPr>
              <a:t>study_hours_class_b</a:t>
            </a:r>
            <a:r>
              <a:rPr lang="en-IN" sz="1100" dirty="0">
                <a:latin typeface="Consolas" panose="020B0609020204030204" pitchFamily="49" charset="0"/>
              </a:rPr>
              <a:t>, </a:t>
            </a:r>
            <a:r>
              <a:rPr lang="en-IN" sz="1100" dirty="0" err="1">
                <a:latin typeface="Consolas" panose="020B0609020204030204" pitchFamily="49" charset="0"/>
              </a:rPr>
              <a:t>scores_class_b</a:t>
            </a:r>
            <a:r>
              <a:rPr lang="en-IN" sz="1100" dirty="0">
                <a:latin typeface="Consolas" panose="020B0609020204030204" pitchFamily="49" charset="0"/>
              </a:rPr>
              <a:t>, </a:t>
            </a:r>
            <a:r>
              <a:rPr lang="en-IN" sz="1100" dirty="0" err="1">
                <a:latin typeface="Consolas" panose="020B0609020204030204" pitchFamily="49" charset="0"/>
              </a:rPr>
              <a:t>color</a:t>
            </a:r>
            <a:r>
              <a:rPr lang="en-IN" sz="1100" dirty="0">
                <a:latin typeface="Consolas" panose="020B0609020204030204" pitchFamily="49" charset="0"/>
              </a:rPr>
              <a:t>='green', marker='s', label='Class B')</a:t>
            </a:r>
          </a:p>
          <a:p>
            <a:endParaRPr lang="en-IN" sz="4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# Add title, labels, and legend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plt.title</a:t>
            </a:r>
            <a:r>
              <a:rPr lang="en-IN" sz="1100" dirty="0">
                <a:latin typeface="Consolas" panose="020B0609020204030204" pitchFamily="49" charset="0"/>
              </a:rPr>
              <a:t>("Study Hours vs. Exam Scores: Class Comparison")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plt.xlabel</a:t>
            </a:r>
            <a:r>
              <a:rPr lang="en-IN" sz="1100" dirty="0">
                <a:latin typeface="Consolas" panose="020B0609020204030204" pitchFamily="49" charset="0"/>
              </a:rPr>
              <a:t>("Study Hours")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plt.ylabel</a:t>
            </a:r>
            <a:r>
              <a:rPr lang="en-IN" sz="1100" dirty="0">
                <a:latin typeface="Consolas" panose="020B0609020204030204" pitchFamily="49" charset="0"/>
              </a:rPr>
              <a:t>("Scores")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plt.legend</a:t>
            </a:r>
            <a:r>
              <a:rPr lang="en-IN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IN" sz="1100" dirty="0" err="1">
                <a:latin typeface="Consolas" panose="020B0609020204030204" pitchFamily="49" charset="0"/>
              </a:rPr>
              <a:t>plt.show</a:t>
            </a:r>
            <a:r>
              <a:rPr lang="en-IN" sz="11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F85D64-A426-4182-A6C0-AA189FAD58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868631"/>
            <a:ext cx="11794067" cy="1449387"/>
          </a:xfrm>
        </p:spPr>
        <p:txBody>
          <a:bodyPr>
            <a:normAutofit/>
          </a:bodyPr>
          <a:lstStyle/>
          <a:p>
            <a:r>
              <a:rPr lang="en-US" sz="3600" dirty="0"/>
              <a:t>Example 2: Scatter Plot with Multiple Groups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228EF-DFED-4895-9B00-C78882DF7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727" y="1737360"/>
            <a:ext cx="3459798" cy="298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6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0EE8-AFB6-42B9-ADC2-B9CB1AD2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BE95-FAD6-4590-8906-1A17DFBE0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1187853" cy="46058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Error bars</a:t>
            </a:r>
            <a:r>
              <a:rPr lang="en-US" sz="3200" dirty="0"/>
              <a:t> are graphical representations of </a:t>
            </a:r>
            <a:r>
              <a:rPr lang="en-US" sz="3200" b="1" dirty="0"/>
              <a:t>variability or uncertainty</a:t>
            </a:r>
            <a:r>
              <a:rPr lang="en-US" sz="3200" dirty="0"/>
              <a:t> in data. They show how much a measurement might </a:t>
            </a:r>
            <a:r>
              <a:rPr lang="en-US" sz="3200" b="1" dirty="0"/>
              <a:t>deviate from the actual value</a:t>
            </a:r>
            <a:r>
              <a:rPr lang="en-US" sz="3200" dirty="0"/>
              <a:t>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Helps indicate </a:t>
            </a:r>
            <a:r>
              <a:rPr lang="en-US" sz="3200" b="1" dirty="0"/>
              <a:t>precision</a:t>
            </a:r>
            <a:r>
              <a:rPr lang="en-US" sz="3200" dirty="0"/>
              <a:t> of measurements or predictions.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Makes it easy to </a:t>
            </a:r>
            <a:r>
              <a:rPr lang="en-US" sz="3200" b="1" dirty="0"/>
              <a:t>compare data reliability</a:t>
            </a:r>
            <a:r>
              <a:rPr lang="en-US" sz="3200" dirty="0"/>
              <a:t> across points.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Can be used in line plots, scatter plots, or bar charts.</a:t>
            </a:r>
          </a:p>
        </p:txBody>
      </p:sp>
    </p:spTree>
    <p:extLst>
      <p:ext uri="{BB962C8B-B14F-4D97-AF65-F5344CB8AC3E}">
        <p14:creationId xmlns:p14="http://schemas.microsoft.com/office/powerpoint/2010/main" val="3070149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8675FD-BDD4-416E-B17B-B656B9B27AE3}"/>
              </a:ext>
            </a:extLst>
          </p:cNvPr>
          <p:cNvSpPr/>
          <p:nvPr/>
        </p:nvSpPr>
        <p:spPr>
          <a:xfrm>
            <a:off x="389467" y="474345"/>
            <a:ext cx="1180253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>
                <a:latin typeface="Consolas" panose="020B0609020204030204" pitchFamily="49" charset="0"/>
              </a:rPr>
              <a:t>import </a:t>
            </a:r>
            <a:r>
              <a:rPr lang="en-IN" sz="2000" dirty="0" err="1">
                <a:latin typeface="Consolas" panose="020B0609020204030204" pitchFamily="49" charset="0"/>
              </a:rPr>
              <a:t>matplotlib.pyplot</a:t>
            </a:r>
            <a:r>
              <a:rPr lang="en-IN" sz="2000" dirty="0">
                <a:latin typeface="Consolas" panose="020B0609020204030204" pitchFamily="49" charset="0"/>
              </a:rPr>
              <a:t> as </a:t>
            </a:r>
            <a:r>
              <a:rPr lang="en-IN" sz="2000" dirty="0" err="1">
                <a:latin typeface="Consolas" panose="020B0609020204030204" pitchFamily="49" charset="0"/>
              </a:rPr>
              <a:t>plt</a:t>
            </a:r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import </a:t>
            </a:r>
            <a:r>
              <a:rPr lang="en-IN" sz="2000" dirty="0" err="1">
                <a:latin typeface="Consolas" panose="020B0609020204030204" pitchFamily="49" charset="0"/>
              </a:rPr>
              <a:t>numpy</a:t>
            </a:r>
            <a:r>
              <a:rPr lang="en-IN" sz="2000" dirty="0">
                <a:latin typeface="Consolas" panose="020B0609020204030204" pitchFamily="49" charset="0"/>
              </a:rPr>
              <a:t> as np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# Data: Students' test scores with measurement errors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students = </a:t>
            </a:r>
            <a:r>
              <a:rPr lang="en-IN" sz="2000" dirty="0" err="1">
                <a:latin typeface="Consolas" panose="020B0609020204030204" pitchFamily="49" charset="0"/>
              </a:rPr>
              <a:t>np.array</a:t>
            </a:r>
            <a:r>
              <a:rPr lang="en-IN" sz="2000" dirty="0">
                <a:latin typeface="Consolas" panose="020B0609020204030204" pitchFamily="49" charset="0"/>
              </a:rPr>
              <a:t>([1, 2, 3, 4, 5, 6, 7])</a:t>
            </a:r>
          </a:p>
          <a:p>
            <a:r>
              <a:rPr lang="en-IN" sz="2000" dirty="0">
                <a:latin typeface="Consolas" panose="020B0609020204030204" pitchFamily="49" charset="0"/>
              </a:rPr>
              <a:t>scores = </a:t>
            </a:r>
            <a:r>
              <a:rPr lang="en-IN" sz="2000" dirty="0" err="1">
                <a:latin typeface="Consolas" panose="020B0609020204030204" pitchFamily="49" charset="0"/>
              </a:rPr>
              <a:t>np.array</a:t>
            </a:r>
            <a:r>
              <a:rPr lang="en-IN" sz="2000" dirty="0">
                <a:latin typeface="Consolas" panose="020B0609020204030204" pitchFamily="49" charset="0"/>
              </a:rPr>
              <a:t>([75, 80, 78, 85, 90, 88, 82])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 err="1">
                <a:latin typeface="Consolas" panose="020B0609020204030204" pitchFamily="49" charset="0"/>
              </a:rPr>
              <a:t>score_error</a:t>
            </a:r>
            <a:r>
              <a:rPr lang="en-IN" sz="2000" dirty="0">
                <a:latin typeface="Consolas" panose="020B0609020204030204" pitchFamily="49" charset="0"/>
              </a:rPr>
              <a:t> = </a:t>
            </a:r>
            <a:r>
              <a:rPr lang="en-IN" sz="2000" dirty="0" err="1">
                <a:latin typeface="Consolas" panose="020B0609020204030204" pitchFamily="49" charset="0"/>
              </a:rPr>
              <a:t>np.array</a:t>
            </a:r>
            <a:r>
              <a:rPr lang="en-IN" sz="2000" dirty="0">
                <a:latin typeface="Consolas" panose="020B0609020204030204" pitchFamily="49" charset="0"/>
              </a:rPr>
              <a:t>([2, 3, 2, 4, 3, 2, 3])  # Possible error in scores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# Scatter plot with error bars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plt.errorbar</a:t>
            </a:r>
            <a:r>
              <a:rPr lang="en-IN" sz="2000" dirty="0">
                <a:latin typeface="Consolas" panose="020B0609020204030204" pitchFamily="49" charset="0"/>
              </a:rPr>
              <a:t>(students, scores, </a:t>
            </a:r>
            <a:r>
              <a:rPr lang="en-IN" sz="2000" dirty="0" err="1">
                <a:latin typeface="Consolas" panose="020B0609020204030204" pitchFamily="49" charset="0"/>
              </a:rPr>
              <a:t>yerr</a:t>
            </a:r>
            <a:r>
              <a:rPr lang="en-IN" sz="2000" dirty="0">
                <a:latin typeface="Consolas" panose="020B0609020204030204" pitchFamily="49" charset="0"/>
              </a:rPr>
              <a:t>=</a:t>
            </a:r>
            <a:r>
              <a:rPr lang="en-IN" sz="2000" dirty="0" err="1">
                <a:latin typeface="Consolas" panose="020B0609020204030204" pitchFamily="49" charset="0"/>
              </a:rPr>
              <a:t>score_error</a:t>
            </a:r>
            <a:r>
              <a:rPr lang="en-IN" sz="2000" dirty="0">
                <a:latin typeface="Consolas" panose="020B0609020204030204" pitchFamily="49" charset="0"/>
              </a:rPr>
              <a:t>, </a:t>
            </a:r>
            <a:r>
              <a:rPr lang="en-IN" sz="2000" dirty="0" err="1">
                <a:latin typeface="Consolas" panose="020B0609020204030204" pitchFamily="49" charset="0"/>
              </a:rPr>
              <a:t>fmt</a:t>
            </a:r>
            <a:r>
              <a:rPr lang="en-IN" sz="2000" dirty="0">
                <a:latin typeface="Consolas" panose="020B0609020204030204" pitchFamily="49" charset="0"/>
              </a:rPr>
              <a:t>='o', </a:t>
            </a:r>
            <a:r>
              <a:rPr lang="en-IN" sz="2000" dirty="0" err="1">
                <a:latin typeface="Consolas" panose="020B0609020204030204" pitchFamily="49" charset="0"/>
              </a:rPr>
              <a:t>ecolor</a:t>
            </a:r>
            <a:r>
              <a:rPr lang="en-IN" sz="2000" dirty="0">
                <a:latin typeface="Consolas" panose="020B0609020204030204" pitchFamily="49" charset="0"/>
              </a:rPr>
              <a:t>='red', capsize=5)</a:t>
            </a:r>
          </a:p>
          <a:p>
            <a:endParaRPr lang="en-IN" sz="2000" dirty="0">
              <a:latin typeface="Consolas" panose="020B0609020204030204" pitchFamily="49" charset="0"/>
            </a:endParaRPr>
          </a:p>
          <a:p>
            <a:r>
              <a:rPr lang="en-IN" sz="2000" dirty="0">
                <a:latin typeface="Consolas" panose="020B0609020204030204" pitchFamily="49" charset="0"/>
              </a:rPr>
              <a:t># Add title and labels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plt.title</a:t>
            </a:r>
            <a:r>
              <a:rPr lang="en-IN" sz="2000" dirty="0">
                <a:latin typeface="Consolas" panose="020B0609020204030204" pitchFamily="49" charset="0"/>
              </a:rPr>
              <a:t>("Student Scores with Error Bars")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plt.xlabel</a:t>
            </a:r>
            <a:r>
              <a:rPr lang="en-IN" sz="2000" dirty="0">
                <a:latin typeface="Consolas" panose="020B0609020204030204" pitchFamily="49" charset="0"/>
              </a:rPr>
              <a:t>("Student Number")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plt.ylabel</a:t>
            </a:r>
            <a:r>
              <a:rPr lang="en-IN" sz="2000" dirty="0">
                <a:latin typeface="Consolas" panose="020B0609020204030204" pitchFamily="49" charset="0"/>
              </a:rPr>
              <a:t>("Score")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plt.grid</a:t>
            </a:r>
            <a:r>
              <a:rPr lang="en-IN" sz="2000" dirty="0">
                <a:latin typeface="Consolas" panose="020B0609020204030204" pitchFamily="49" charset="0"/>
              </a:rPr>
              <a:t>(True)</a:t>
            </a:r>
          </a:p>
          <a:p>
            <a:r>
              <a:rPr lang="en-IN" sz="2000" dirty="0" err="1">
                <a:latin typeface="Consolas" panose="020B0609020204030204" pitchFamily="49" charset="0"/>
              </a:rPr>
              <a:t>plt.show</a:t>
            </a:r>
            <a:r>
              <a:rPr lang="en-IN" sz="2000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A77395-BEBB-49AA-9CC1-BFE29F7E6A4C}"/>
              </a:ext>
            </a:extLst>
          </p:cNvPr>
          <p:cNvSpPr txBox="1">
            <a:spLocks/>
          </p:cNvSpPr>
          <p:nvPr/>
        </p:nvSpPr>
        <p:spPr>
          <a:xfrm>
            <a:off x="0" y="-94396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Creating Error Bars with Matplotlib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917539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A725-64DC-4BD3-A1E1-F58B718EC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Error Bars with Matplotlib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18699-A8B1-45DC-88F0-7CCD58F50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00F98-4DCB-4199-BD9D-0EDBBFF1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266" y="1845734"/>
            <a:ext cx="5029201" cy="433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7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7AFA2-ED8A-4710-8F09-C7B3916C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Density and contour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DFB26-6062-4BF9-B2A3-6BC2D7468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068" y="1871133"/>
            <a:ext cx="10769600" cy="4428066"/>
          </a:xfrm>
        </p:spPr>
        <p:txBody>
          <a:bodyPr>
            <a:normAutofit fontScale="92500" lnSpcReduction="10000"/>
          </a:bodyPr>
          <a:lstStyle/>
          <a:p>
            <a:r>
              <a:rPr lang="en-US" sz="3000" b="1" dirty="0"/>
              <a:t>Density plots</a:t>
            </a:r>
            <a:r>
              <a:rPr lang="en-US" sz="3000" dirty="0"/>
              <a:t> are visualizations that show the </a:t>
            </a:r>
            <a:r>
              <a:rPr lang="en-US" sz="3000" b="1" dirty="0"/>
              <a:t>distribution of points in a dataset</a:t>
            </a:r>
            <a:r>
              <a:rPr lang="en-US" sz="3000" dirty="0"/>
              <a:t>, usually in two dimensions.</a:t>
            </a:r>
          </a:p>
          <a:p>
            <a:r>
              <a:rPr lang="en-US" sz="3000" b="1" dirty="0"/>
              <a:t>Contour plots</a:t>
            </a:r>
            <a:r>
              <a:rPr lang="en-US" sz="3000" dirty="0"/>
              <a:t> are similar but display </a:t>
            </a:r>
            <a:r>
              <a:rPr lang="en-US" sz="3000" b="1" dirty="0"/>
              <a:t>lines (contours) connecting points of equal value</a:t>
            </a:r>
            <a:r>
              <a:rPr lang="en-US" sz="3000" dirty="0"/>
              <a:t>, like a topographic map.</a:t>
            </a:r>
          </a:p>
          <a:p>
            <a:r>
              <a:rPr lang="en-US" sz="3000" b="1" dirty="0"/>
              <a:t>Key uses:</a:t>
            </a:r>
            <a:endParaRPr lang="en-US" sz="3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Understand </a:t>
            </a:r>
            <a:r>
              <a:rPr lang="en-US" sz="3000" b="1" dirty="0"/>
              <a:t>2D distributions</a:t>
            </a:r>
            <a:r>
              <a:rPr lang="en-US" sz="30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Visualize </a:t>
            </a:r>
            <a:r>
              <a:rPr lang="en-US" sz="3000" b="1" dirty="0"/>
              <a:t>peaks, valleys, or clusters</a:t>
            </a:r>
            <a:r>
              <a:rPr lang="en-US" sz="3000" dirty="0"/>
              <a:t> in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dirty="0"/>
              <a:t>Useful in </a:t>
            </a:r>
            <a:r>
              <a:rPr lang="en-US" sz="3000" b="1" dirty="0"/>
              <a:t>geography, physics, and data science</a:t>
            </a:r>
            <a:r>
              <a:rPr lang="en-US" sz="3000" dirty="0"/>
              <a:t> for representing surfaces.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7205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7D1B-F30F-4255-9ADA-A03A5313E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2D Gaussian Function?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1CE9-C471-4703-BBF2-AF9BC2E92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2D Gaussian function</a:t>
            </a:r>
            <a:r>
              <a:rPr lang="en-US" dirty="0"/>
              <a:t> is an extension of the 1D Gaussian (bell curve) into two dimensions.</a:t>
            </a:r>
          </a:p>
          <a:p>
            <a:r>
              <a:rPr lang="en-IN" b="1" dirty="0"/>
              <a:t>Mathematical form: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77855-8B83-4191-99A5-4446EE28AC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45" t="19768" r="23820" b="34754"/>
          <a:stretch/>
        </p:blipFill>
        <p:spPr>
          <a:xfrm>
            <a:off x="1413933" y="2810933"/>
            <a:ext cx="7526866" cy="29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21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DF10-B605-486E-91A0-C4B2A31CF71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16467" y="211138"/>
            <a:ext cx="10756900" cy="5480050"/>
          </a:xfrm>
        </p:spPr>
        <p:txBody>
          <a:bodyPr/>
          <a:lstStyle/>
          <a:p>
            <a:r>
              <a:rPr lang="en-US" b="1" dirty="0"/>
              <a:t>1. Contour/Density plots require a grid</a:t>
            </a:r>
          </a:p>
          <a:p>
            <a:r>
              <a:rPr lang="en-US" dirty="0"/>
              <a:t>Suppose you want to plot:</a:t>
            </a:r>
          </a:p>
          <a:p>
            <a:r>
              <a:rPr lang="en-US" dirty="0"/>
              <a:t>Z=X</a:t>
            </a:r>
            <a:r>
              <a:rPr lang="en-US" baseline="30000" dirty="0"/>
              <a:t>2</a:t>
            </a:r>
            <a:r>
              <a:rPr lang="en-US" dirty="0"/>
              <a:t>+Y</a:t>
            </a:r>
            <a:r>
              <a:rPr lang="en-US" baseline="30000" dirty="0"/>
              <a:t>2 </a:t>
            </a:r>
          </a:p>
          <a:p>
            <a:r>
              <a:rPr lang="en-US" dirty="0"/>
              <a:t>You don’t just need </a:t>
            </a:r>
            <a:r>
              <a:rPr lang="en-US" b="1" dirty="0"/>
              <a:t>x-values</a:t>
            </a:r>
            <a:r>
              <a:rPr lang="en-US" dirty="0"/>
              <a:t> or </a:t>
            </a:r>
            <a:r>
              <a:rPr lang="en-US" b="1" dirty="0"/>
              <a:t>y-values</a:t>
            </a:r>
            <a:r>
              <a:rPr lang="en-US" dirty="0"/>
              <a:t> separately. You need </a:t>
            </a:r>
            <a:r>
              <a:rPr lang="en-US" b="1" dirty="0"/>
              <a:t>all combinations</a:t>
            </a:r>
            <a:r>
              <a:rPr lang="en-US" dirty="0"/>
              <a:t> of x and y to know what Z is at each point.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x = [-1, 0, 1]   y = [-1, 0, 1]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B25F84-DFBD-45F3-8CD8-A401C4EDC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321427"/>
              </p:ext>
            </p:extLst>
          </p:nvPr>
        </p:nvGraphicFramePr>
        <p:xfrm>
          <a:off x="5147732" y="2342091"/>
          <a:ext cx="4792134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97378">
                  <a:extLst>
                    <a:ext uri="{9D8B030D-6E8A-4147-A177-3AD203B41FA5}">
                      <a16:colId xmlns:a16="http://schemas.microsoft.com/office/drawing/2014/main" val="4042770962"/>
                    </a:ext>
                  </a:extLst>
                </a:gridCol>
                <a:gridCol w="1597378">
                  <a:extLst>
                    <a:ext uri="{9D8B030D-6E8A-4147-A177-3AD203B41FA5}">
                      <a16:colId xmlns:a16="http://schemas.microsoft.com/office/drawing/2014/main" val="2118917781"/>
                    </a:ext>
                  </a:extLst>
                </a:gridCol>
                <a:gridCol w="1597378">
                  <a:extLst>
                    <a:ext uri="{9D8B030D-6E8A-4147-A177-3AD203B41FA5}">
                      <a16:colId xmlns:a16="http://schemas.microsoft.com/office/drawing/2014/main" val="2255757201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Z = x² + y²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991152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740222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628793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875383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352973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278249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50509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353501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450221"/>
                  </a:ext>
                </a:extLst>
              </a:tr>
              <a:tr h="360362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601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969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2EFD0D-00BC-4D43-8422-DF71EB7B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0B3292-A50B-4E47-9C75-EF6F27AD07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0354552"/>
              </p:ext>
            </p:extLst>
          </p:nvPr>
        </p:nvGraphicFramePr>
        <p:xfrm>
          <a:off x="1096963" y="1846263"/>
          <a:ext cx="10059552" cy="28060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53184">
                  <a:extLst>
                    <a:ext uri="{9D8B030D-6E8A-4147-A177-3AD203B41FA5}">
                      <a16:colId xmlns:a16="http://schemas.microsoft.com/office/drawing/2014/main" val="1414854498"/>
                    </a:ext>
                  </a:extLst>
                </a:gridCol>
                <a:gridCol w="3353184">
                  <a:extLst>
                    <a:ext uri="{9D8B030D-6E8A-4147-A177-3AD203B41FA5}">
                      <a16:colId xmlns:a16="http://schemas.microsoft.com/office/drawing/2014/main" val="915465533"/>
                    </a:ext>
                  </a:extLst>
                </a:gridCol>
                <a:gridCol w="3353184">
                  <a:extLst>
                    <a:ext uri="{9D8B030D-6E8A-4147-A177-3AD203B41FA5}">
                      <a16:colId xmlns:a16="http://schemas.microsoft.com/office/drawing/2014/main" val="3534844949"/>
                    </a:ext>
                  </a:extLst>
                </a:gridCol>
              </a:tblGrid>
              <a:tr h="701516">
                <a:tc>
                  <a:txBody>
                    <a:bodyPr/>
                    <a:lstStyle/>
                    <a:p>
                      <a:r>
                        <a:rPr lang="en-IN" dirty="0"/>
                        <a:t>Plot Type</a:t>
                      </a:r>
                    </a:p>
                  </a:txBody>
                  <a:tcPr marL="99633" marR="9963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Source</a:t>
                      </a:r>
                    </a:p>
                  </a:txBody>
                  <a:tcPr marL="99633" marR="9963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Need for </a:t>
                      </a:r>
                      <a:r>
                        <a:rPr lang="en-IN" dirty="0" err="1"/>
                        <a:t>linspace</a:t>
                      </a:r>
                      <a:endParaRPr lang="en-IN" dirty="0"/>
                    </a:p>
                  </a:txBody>
                  <a:tcPr marL="99633" marR="9963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959206"/>
                  </a:ext>
                </a:extLst>
              </a:tr>
              <a:tr h="701516">
                <a:tc>
                  <a:txBody>
                    <a:bodyPr/>
                    <a:lstStyle/>
                    <a:p>
                      <a:r>
                        <a:rPr lang="en-IN" dirty="0"/>
                        <a:t>Line Plot</a:t>
                      </a:r>
                    </a:p>
                  </a:txBody>
                  <a:tcPr marL="99633" marR="99633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Discrete measurements</a:t>
                      </a:r>
                    </a:p>
                  </a:txBody>
                  <a:tcPr marL="99633" marR="99633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Usually NO</a:t>
                      </a:r>
                    </a:p>
                  </a:txBody>
                  <a:tcPr marL="99633" marR="99633" anchor="ctr"/>
                </a:tc>
                <a:extLst>
                  <a:ext uri="{0D108BD9-81ED-4DB2-BD59-A6C34878D82A}">
                    <a16:rowId xmlns:a16="http://schemas.microsoft.com/office/drawing/2014/main" val="2774674150"/>
                  </a:ext>
                </a:extLst>
              </a:tr>
              <a:tr h="701516">
                <a:tc>
                  <a:txBody>
                    <a:bodyPr/>
                    <a:lstStyle/>
                    <a:p>
                      <a:r>
                        <a:rPr lang="en-IN"/>
                        <a:t>Scatter Plot</a:t>
                      </a:r>
                    </a:p>
                  </a:txBody>
                  <a:tcPr marL="99633" marR="99633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Discrete measurements</a:t>
                      </a:r>
                    </a:p>
                  </a:txBody>
                  <a:tcPr marL="99633" marR="99633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Usually NO</a:t>
                      </a:r>
                    </a:p>
                  </a:txBody>
                  <a:tcPr marL="99633" marR="99633" anchor="ctr"/>
                </a:tc>
                <a:extLst>
                  <a:ext uri="{0D108BD9-81ED-4DB2-BD59-A6C34878D82A}">
                    <a16:rowId xmlns:a16="http://schemas.microsoft.com/office/drawing/2014/main" val="4034593382"/>
                  </a:ext>
                </a:extLst>
              </a:tr>
              <a:tr h="701516">
                <a:tc>
                  <a:txBody>
                    <a:bodyPr/>
                    <a:lstStyle/>
                    <a:p>
                      <a:r>
                        <a:rPr lang="en-IN" dirty="0"/>
                        <a:t>Contour/Density</a:t>
                      </a:r>
                    </a:p>
                  </a:txBody>
                  <a:tcPr marL="99633" marR="99633"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Function over 2D grid</a:t>
                      </a:r>
                    </a:p>
                  </a:txBody>
                  <a:tcPr marL="99633" marR="99633"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YES, for smooth visualization</a:t>
                      </a:r>
                    </a:p>
                  </a:txBody>
                  <a:tcPr marL="99633" marR="99633" anchor="ctr"/>
                </a:tc>
                <a:extLst>
                  <a:ext uri="{0D108BD9-81ED-4DB2-BD59-A6C34878D82A}">
                    <a16:rowId xmlns:a16="http://schemas.microsoft.com/office/drawing/2014/main" val="175781250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B95BABA-A06F-4E77-BC81-85FD008D3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7732" y="4798060"/>
            <a:ext cx="74591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In contour plots,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Z = function value.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In 2D density plots,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Z = density of points at each (X, Y) position.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154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ADA0-F713-4939-B565-FDCDCA09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Contour plot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3D22-9041-40B8-8E2E-A4996628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264987" cy="40893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2800" dirty="0"/>
              <a:t>For a </a:t>
            </a:r>
            <a:r>
              <a:rPr lang="en-US" sz="2800" b="1" dirty="0"/>
              <a:t>contour plot</a:t>
            </a:r>
            <a:r>
              <a:rPr lang="en-US" sz="2800" dirty="0"/>
              <a:t>, we are plotting a </a:t>
            </a:r>
            <a:r>
              <a:rPr lang="en-US" sz="2800" b="1" dirty="0"/>
              <a:t>function of two variables</a:t>
            </a:r>
            <a:r>
              <a:rPr lang="en-US" sz="2800" dirty="0"/>
              <a:t>, e.g.,</a:t>
            </a:r>
          </a:p>
          <a:p>
            <a:pPr marL="0" indent="0">
              <a:buNone/>
            </a:pPr>
            <a:r>
              <a:rPr lang="en-US" sz="2800" dirty="0"/>
              <a:t>              Z = f(X,Y)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Z is not a set of discrete measurements, but a mathematical function defined everywhere in a region.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To visualize it, we need a grid of points covering the x-y plane.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 </a:t>
            </a:r>
            <a:r>
              <a:rPr lang="en-US" sz="2800" dirty="0" err="1"/>
              <a:t>np.linspace</a:t>
            </a:r>
            <a:r>
              <a:rPr lang="en-US" sz="2800" dirty="0"/>
              <a:t>() creates evenly spaced points along x and y axes, and </a:t>
            </a:r>
            <a:r>
              <a:rPr lang="en-US" sz="2800" dirty="0" err="1"/>
              <a:t>meshgrid</a:t>
            </a:r>
            <a:r>
              <a:rPr lang="en-US" sz="2800" dirty="0"/>
              <a:t>() generates all combinations so we can compute Z at each point.</a:t>
            </a:r>
            <a:endParaRPr lang="en-IN" sz="2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196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4A9BD-9D21-483E-86D5-B67445A924F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2399" y="508001"/>
            <a:ext cx="12039601" cy="5757860"/>
          </a:xfrm>
        </p:spPr>
        <p:txBody>
          <a:bodyPr>
            <a:no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import </a:t>
            </a:r>
            <a:r>
              <a:rPr lang="en-IN" sz="1200" dirty="0" err="1">
                <a:latin typeface="Consolas" panose="020B0609020204030204" pitchFamily="49" charset="0"/>
              </a:rPr>
              <a:t>matplotlib.pyplot</a:t>
            </a:r>
            <a:r>
              <a:rPr lang="en-IN" sz="1200" dirty="0">
                <a:latin typeface="Consolas" panose="020B0609020204030204" pitchFamily="49" charset="0"/>
              </a:rPr>
              <a:t> as </a:t>
            </a:r>
            <a:r>
              <a:rPr lang="en-IN" sz="1200" dirty="0" err="1">
                <a:latin typeface="Consolas" panose="020B0609020204030204" pitchFamily="49" charset="0"/>
              </a:rPr>
              <a:t>plt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import </a:t>
            </a:r>
            <a:r>
              <a:rPr lang="en-IN" sz="1200" dirty="0" err="1">
                <a:latin typeface="Consolas" panose="020B0609020204030204" pitchFamily="49" charset="0"/>
              </a:rPr>
              <a:t>numpy</a:t>
            </a:r>
            <a:r>
              <a:rPr lang="en-IN" sz="1200" dirty="0">
                <a:latin typeface="Consolas" panose="020B0609020204030204" pitchFamily="49" charset="0"/>
              </a:rPr>
              <a:t> as np</a:t>
            </a:r>
          </a:p>
          <a:p>
            <a:endParaRPr lang="en-IN" sz="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Generate grid data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x = </a:t>
            </a:r>
            <a:r>
              <a:rPr lang="en-IN" sz="1200" dirty="0" err="1">
                <a:latin typeface="Consolas" panose="020B0609020204030204" pitchFamily="49" charset="0"/>
              </a:rPr>
              <a:t>np.linspace</a:t>
            </a:r>
            <a:r>
              <a:rPr lang="en-IN" sz="1200" dirty="0">
                <a:latin typeface="Consolas" panose="020B0609020204030204" pitchFamily="49" charset="0"/>
              </a:rPr>
              <a:t>(-3, 3, 100)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y = </a:t>
            </a:r>
            <a:r>
              <a:rPr lang="en-IN" sz="1200" dirty="0" err="1">
                <a:latin typeface="Consolas" panose="020B0609020204030204" pitchFamily="49" charset="0"/>
              </a:rPr>
              <a:t>np.linspace</a:t>
            </a:r>
            <a:r>
              <a:rPr lang="en-IN" sz="1200" dirty="0">
                <a:latin typeface="Consolas" panose="020B0609020204030204" pitchFamily="49" charset="0"/>
              </a:rPr>
              <a:t>(-3, 3, 100)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X, Y = </a:t>
            </a:r>
            <a:r>
              <a:rPr lang="en-IN" sz="1200" dirty="0" err="1">
                <a:latin typeface="Consolas" panose="020B0609020204030204" pitchFamily="49" charset="0"/>
              </a:rPr>
              <a:t>np.meshgrid</a:t>
            </a:r>
            <a:r>
              <a:rPr lang="en-IN" sz="1200" dirty="0">
                <a:latin typeface="Consolas" panose="020B0609020204030204" pitchFamily="49" charset="0"/>
              </a:rPr>
              <a:t>(x, y)</a:t>
            </a:r>
          </a:p>
          <a:p>
            <a:endParaRPr lang="en-IN" sz="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Function to visualize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Z = </a:t>
            </a:r>
            <a:r>
              <a:rPr lang="en-IN" sz="1200" dirty="0" err="1">
                <a:latin typeface="Consolas" panose="020B0609020204030204" pitchFamily="49" charset="0"/>
              </a:rPr>
              <a:t>np.exp</a:t>
            </a:r>
            <a:r>
              <a:rPr lang="en-IN" sz="1200" dirty="0">
                <a:latin typeface="Consolas" panose="020B0609020204030204" pitchFamily="49" charset="0"/>
              </a:rPr>
              <a:t>(-(X**2 + Y**2))  # 2D Gaussian</a:t>
            </a:r>
          </a:p>
          <a:p>
            <a:endParaRPr lang="en-IN" sz="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Contour plot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plt.contour</a:t>
            </a:r>
            <a:r>
              <a:rPr lang="en-IN" sz="1200" dirty="0">
                <a:latin typeface="Consolas" panose="020B0609020204030204" pitchFamily="49" charset="0"/>
              </a:rPr>
              <a:t>(X, Y, Z, levels=10, </a:t>
            </a:r>
            <a:r>
              <a:rPr lang="en-IN" sz="1200" dirty="0" err="1">
                <a:latin typeface="Consolas" panose="020B0609020204030204" pitchFamily="49" charset="0"/>
              </a:rPr>
              <a:t>cmap</a:t>
            </a:r>
            <a:r>
              <a:rPr lang="en-IN" sz="1200" dirty="0">
                <a:latin typeface="Consolas" panose="020B0609020204030204" pitchFamily="49" charset="0"/>
              </a:rPr>
              <a:t>='</a:t>
            </a:r>
            <a:r>
              <a:rPr lang="en-IN" sz="1200" dirty="0" err="1">
                <a:latin typeface="Consolas" panose="020B0609020204030204" pitchFamily="49" charset="0"/>
              </a:rPr>
              <a:t>viridis</a:t>
            </a:r>
            <a:r>
              <a:rPr lang="en-IN" sz="1200" dirty="0">
                <a:latin typeface="Consolas" panose="020B0609020204030204" pitchFamily="49" charset="0"/>
              </a:rPr>
              <a:t>')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plt.title</a:t>
            </a:r>
            <a:r>
              <a:rPr lang="en-IN" sz="1200" dirty="0">
                <a:latin typeface="Consolas" panose="020B0609020204030204" pitchFamily="49" charset="0"/>
              </a:rPr>
              <a:t>("Contour Plot Example")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plt.colorbar</a:t>
            </a:r>
            <a:r>
              <a:rPr lang="en-IN" sz="1200" dirty="0">
                <a:latin typeface="Consolas" panose="020B0609020204030204" pitchFamily="49" charset="0"/>
              </a:rPr>
              <a:t>()  # Show </a:t>
            </a:r>
            <a:r>
              <a:rPr lang="en-IN" sz="1200" dirty="0" err="1">
                <a:latin typeface="Consolas" panose="020B0609020204030204" pitchFamily="49" charset="0"/>
              </a:rPr>
              <a:t>color</a:t>
            </a:r>
            <a:r>
              <a:rPr lang="en-IN" sz="1200" dirty="0">
                <a:latin typeface="Consolas" panose="020B0609020204030204" pitchFamily="49" charset="0"/>
              </a:rPr>
              <a:t> scale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plt.xlabel</a:t>
            </a:r>
            <a:r>
              <a:rPr lang="en-IN" sz="1200" dirty="0">
                <a:latin typeface="Consolas" panose="020B0609020204030204" pitchFamily="49" charset="0"/>
              </a:rPr>
              <a:t>("X-axis")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plt.ylabel</a:t>
            </a:r>
            <a:r>
              <a:rPr lang="en-IN" sz="1200" dirty="0">
                <a:latin typeface="Consolas" panose="020B0609020204030204" pitchFamily="49" charset="0"/>
              </a:rPr>
              <a:t>("Y-axis")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plt.show</a:t>
            </a:r>
            <a:r>
              <a:rPr lang="en-IN" sz="1200" dirty="0">
                <a:latin typeface="Consolas" panose="020B0609020204030204" pitchFamily="49" charset="0"/>
              </a:rPr>
              <a:t>()</a:t>
            </a:r>
          </a:p>
          <a:p>
            <a:endParaRPr lang="en-IN" sz="1200" dirty="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A6D1F-1707-464F-A5C6-ECBBCDF46A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399" y="-894027"/>
            <a:ext cx="9999134" cy="1402027"/>
          </a:xfrm>
        </p:spPr>
        <p:txBody>
          <a:bodyPr>
            <a:normAutofit/>
          </a:bodyPr>
          <a:lstStyle/>
          <a:p>
            <a:r>
              <a:rPr lang="en-US" sz="4000" dirty="0"/>
              <a:t>Creating Contour Plots with Matplotlib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E39F9-5D43-4346-B98C-8E048860D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808" y="592139"/>
            <a:ext cx="61150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4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57E8-0DAA-4B9A-AC76-6A838D00E4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96334" y="507999"/>
            <a:ext cx="11785600" cy="5985934"/>
          </a:xfrm>
        </p:spPr>
        <p:txBody>
          <a:bodyPr>
            <a:normAutofit/>
          </a:bodyPr>
          <a:lstStyle/>
          <a:p>
            <a:r>
              <a:rPr lang="en-IN" sz="1400" dirty="0">
                <a:latin typeface="Consolas" panose="020B0609020204030204" pitchFamily="49" charset="0"/>
              </a:rPr>
              <a:t>import </a:t>
            </a:r>
            <a:r>
              <a:rPr lang="en-IN" sz="1400" dirty="0" err="1">
                <a:latin typeface="Consolas" panose="020B0609020204030204" pitchFamily="49" charset="0"/>
              </a:rPr>
              <a:t>numpy</a:t>
            </a:r>
            <a:r>
              <a:rPr lang="en-IN" sz="1400" dirty="0">
                <a:latin typeface="Consolas" panose="020B0609020204030204" pitchFamily="49" charset="0"/>
              </a:rPr>
              <a:t> as np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import </a:t>
            </a:r>
            <a:r>
              <a:rPr lang="en-IN" sz="1400" dirty="0" err="1">
                <a:latin typeface="Consolas" panose="020B0609020204030204" pitchFamily="49" charset="0"/>
              </a:rPr>
              <a:t>matplotlib.pyplot</a:t>
            </a:r>
            <a:r>
              <a:rPr lang="en-IN" sz="1400" dirty="0">
                <a:latin typeface="Consolas" panose="020B0609020204030204" pitchFamily="49" charset="0"/>
              </a:rPr>
              <a:t> as </a:t>
            </a:r>
            <a:r>
              <a:rPr lang="en-IN" sz="1400" dirty="0" err="1">
                <a:latin typeface="Consolas" panose="020B0609020204030204" pitchFamily="49" charset="0"/>
              </a:rPr>
              <a:t>plt</a:t>
            </a:r>
            <a:endParaRPr lang="en-IN" sz="1400" dirty="0">
              <a:latin typeface="Consolas" panose="020B0609020204030204" pitchFamily="49" charset="0"/>
            </a:endParaRPr>
          </a:p>
          <a:p>
            <a:endParaRPr lang="en-IN" sz="200" dirty="0">
              <a:latin typeface="Consolas" panose="020B0609020204030204" pitchFamily="49" charset="0"/>
            </a:endParaRPr>
          </a:p>
          <a:p>
            <a:r>
              <a:rPr lang="en-IN" sz="1400" dirty="0">
                <a:latin typeface="Consolas" panose="020B0609020204030204" pitchFamily="49" charset="0"/>
              </a:rPr>
              <a:t># Create grid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x = </a:t>
            </a:r>
            <a:r>
              <a:rPr lang="en-IN" sz="1400" dirty="0" err="1">
                <a:latin typeface="Consolas" panose="020B0609020204030204" pitchFamily="49" charset="0"/>
              </a:rPr>
              <a:t>np.linspace</a:t>
            </a:r>
            <a:r>
              <a:rPr lang="en-IN" sz="1400" dirty="0">
                <a:latin typeface="Consolas" panose="020B0609020204030204" pitchFamily="49" charset="0"/>
              </a:rPr>
              <a:t>(0, 5, 100)   # X-axis: 0 to 5 units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y = </a:t>
            </a:r>
            <a:r>
              <a:rPr lang="en-IN" sz="1400" dirty="0" err="1">
                <a:latin typeface="Consolas" panose="020B0609020204030204" pitchFamily="49" charset="0"/>
              </a:rPr>
              <a:t>np.linspace</a:t>
            </a:r>
            <a:r>
              <a:rPr lang="en-IN" sz="1400" dirty="0">
                <a:latin typeface="Consolas" panose="020B0609020204030204" pitchFamily="49" charset="0"/>
              </a:rPr>
              <a:t>(0, 5, 100)   # Y-axis: 0 to 5 units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X, Y = </a:t>
            </a:r>
            <a:r>
              <a:rPr lang="en-IN" sz="1400" dirty="0" err="1">
                <a:latin typeface="Consolas" panose="020B0609020204030204" pitchFamily="49" charset="0"/>
              </a:rPr>
              <a:t>np.meshgrid</a:t>
            </a:r>
            <a:r>
              <a:rPr lang="en-IN" sz="1400" dirty="0">
                <a:latin typeface="Consolas" panose="020B0609020204030204" pitchFamily="49" charset="0"/>
              </a:rPr>
              <a:t>(x, y)</a:t>
            </a:r>
          </a:p>
          <a:p>
            <a:endParaRPr lang="en-IN" sz="100" dirty="0">
              <a:latin typeface="Consolas" panose="020B0609020204030204" pitchFamily="49" charset="0"/>
            </a:endParaRPr>
          </a:p>
          <a:p>
            <a:r>
              <a:rPr lang="en-IN" sz="1400" dirty="0">
                <a:latin typeface="Consolas" panose="020B0609020204030204" pitchFamily="49" charset="0"/>
              </a:rPr>
              <a:t># Define temperature function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Z = 100 * </a:t>
            </a:r>
            <a:r>
              <a:rPr lang="en-IN" sz="1400" dirty="0" err="1">
                <a:latin typeface="Consolas" panose="020B0609020204030204" pitchFamily="49" charset="0"/>
              </a:rPr>
              <a:t>np.exp</a:t>
            </a:r>
            <a:r>
              <a:rPr lang="en-IN" sz="1400" dirty="0">
                <a:latin typeface="Consolas" panose="020B0609020204030204" pitchFamily="49" charset="0"/>
              </a:rPr>
              <a:t>(-((X-2.5)**2 + (Y-2.5)**2))</a:t>
            </a:r>
          </a:p>
          <a:p>
            <a:r>
              <a:rPr lang="en-IN" sz="1400" dirty="0">
                <a:latin typeface="Consolas" panose="020B0609020204030204" pitchFamily="49" charset="0"/>
              </a:rPr>
              <a:t># Contour plot</a:t>
            </a:r>
          </a:p>
          <a:p>
            <a:r>
              <a:rPr lang="en-IN" sz="1400" dirty="0" err="1">
                <a:latin typeface="Consolas" panose="020B0609020204030204" pitchFamily="49" charset="0"/>
              </a:rPr>
              <a:t>plt.contour</a:t>
            </a:r>
            <a:r>
              <a:rPr lang="en-IN" sz="1400" dirty="0">
                <a:latin typeface="Consolas" panose="020B0609020204030204" pitchFamily="49" charset="0"/>
              </a:rPr>
              <a:t>(X, Y, Z, levels=10, </a:t>
            </a:r>
            <a:r>
              <a:rPr lang="en-IN" sz="1400" dirty="0" err="1">
                <a:latin typeface="Consolas" panose="020B0609020204030204" pitchFamily="49" charset="0"/>
              </a:rPr>
              <a:t>cmap</a:t>
            </a:r>
            <a:r>
              <a:rPr lang="en-IN" sz="1400" dirty="0">
                <a:latin typeface="Consolas" panose="020B0609020204030204" pitchFamily="49" charset="0"/>
              </a:rPr>
              <a:t>='hot')</a:t>
            </a:r>
          </a:p>
          <a:p>
            <a:r>
              <a:rPr lang="en-IN" sz="1400" dirty="0" err="1">
                <a:latin typeface="Consolas" panose="020B0609020204030204" pitchFamily="49" charset="0"/>
              </a:rPr>
              <a:t>plt.colorbar</a:t>
            </a:r>
            <a:r>
              <a:rPr lang="en-IN" sz="1400" dirty="0">
                <a:latin typeface="Consolas" panose="020B0609020204030204" pitchFamily="49" charset="0"/>
              </a:rPr>
              <a:t>(label="Temperature (°C)")</a:t>
            </a:r>
          </a:p>
          <a:p>
            <a:r>
              <a:rPr lang="en-IN" sz="1400" dirty="0" err="1">
                <a:latin typeface="Consolas" panose="020B0609020204030204" pitchFamily="49" charset="0"/>
              </a:rPr>
              <a:t>plt.title</a:t>
            </a:r>
            <a:r>
              <a:rPr lang="en-IN" sz="1400" dirty="0">
                <a:latin typeface="Consolas" panose="020B0609020204030204" pitchFamily="49" charset="0"/>
              </a:rPr>
              <a:t>("Temperature Distribution on a Metal Plate")</a:t>
            </a:r>
          </a:p>
          <a:p>
            <a:r>
              <a:rPr lang="en-IN" sz="1400" dirty="0" err="1">
                <a:latin typeface="Consolas" panose="020B0609020204030204" pitchFamily="49" charset="0"/>
              </a:rPr>
              <a:t>plt.xlabel</a:t>
            </a:r>
            <a:r>
              <a:rPr lang="en-IN" sz="1400" dirty="0">
                <a:latin typeface="Consolas" panose="020B0609020204030204" pitchFamily="49" charset="0"/>
              </a:rPr>
              <a:t>("X-axis (m)")</a:t>
            </a:r>
          </a:p>
          <a:p>
            <a:r>
              <a:rPr lang="en-IN" sz="1400" dirty="0" err="1">
                <a:latin typeface="Consolas" panose="020B0609020204030204" pitchFamily="49" charset="0"/>
              </a:rPr>
              <a:t>plt.ylabel</a:t>
            </a:r>
            <a:r>
              <a:rPr lang="en-IN" sz="1400" dirty="0">
                <a:latin typeface="Consolas" panose="020B0609020204030204" pitchFamily="49" charset="0"/>
              </a:rPr>
              <a:t>("Y-axis (m)")</a:t>
            </a:r>
          </a:p>
          <a:p>
            <a:r>
              <a:rPr lang="en-IN" sz="1400" dirty="0" err="1">
                <a:latin typeface="Consolas" panose="020B0609020204030204" pitchFamily="49" charset="0"/>
              </a:rPr>
              <a:t>plt.show</a:t>
            </a:r>
            <a:r>
              <a:rPr lang="en-IN" sz="1400" dirty="0">
                <a:latin typeface="Consolas" panose="020B0609020204030204" pitchFamily="49" charset="0"/>
              </a:rPr>
              <a:t>()</a:t>
            </a:r>
          </a:p>
          <a:p>
            <a:endParaRPr lang="en-IN" sz="1400" dirty="0">
              <a:latin typeface="Consolas" panose="020B06090202040302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5303F65-4FC9-4D31-AC3B-6CB6CC2C8B5E}"/>
              </a:ext>
            </a:extLst>
          </p:cNvPr>
          <p:cNvSpPr txBox="1">
            <a:spLocks/>
          </p:cNvSpPr>
          <p:nvPr/>
        </p:nvSpPr>
        <p:spPr>
          <a:xfrm>
            <a:off x="0" y="-868631"/>
            <a:ext cx="11794067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Example 2: </a:t>
            </a:r>
            <a:r>
              <a:rPr lang="en-IN" sz="3600" dirty="0"/>
              <a:t>Temperature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B5B438-037E-496C-A5C4-A780402E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798" y="1168399"/>
            <a:ext cx="4373201" cy="377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88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62E504-0D3F-420D-9532-06C3689B9611}"/>
              </a:ext>
            </a:extLst>
          </p:cNvPr>
          <p:cNvSpPr/>
          <p:nvPr/>
        </p:nvSpPr>
        <p:spPr>
          <a:xfrm>
            <a:off x="350309" y="1470086"/>
            <a:ext cx="7269691" cy="461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i="1" u="sng" dirty="0">
                <a:latin typeface="Consolas" panose="020B0609020204030204" pitchFamily="49" charset="0"/>
              </a:rPr>
              <a:t>Code: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numpy</a:t>
            </a:r>
            <a:r>
              <a:rPr lang="en-IN" dirty="0">
                <a:latin typeface="Consolas" panose="020B0609020204030204" pitchFamily="49" charset="0"/>
              </a:rPr>
              <a:t> as np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matplotlib.pyplot</a:t>
            </a:r>
            <a:r>
              <a:rPr lang="en-IN" dirty="0">
                <a:latin typeface="Consolas" panose="020B0609020204030204" pitchFamily="49" charset="0"/>
              </a:rPr>
              <a:t> as </a:t>
            </a:r>
            <a:r>
              <a:rPr lang="en-IN" dirty="0" err="1">
                <a:latin typeface="Consolas" panose="020B0609020204030204" pitchFamily="49" charset="0"/>
              </a:rPr>
              <a:t>plt</a:t>
            </a: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onsolas" panose="020B0609020204030204" pitchFamily="49" charset="0"/>
              </a:rPr>
              <a:t>x = </a:t>
            </a:r>
            <a:r>
              <a:rPr lang="en-IN" dirty="0" err="1">
                <a:latin typeface="Consolas" panose="020B0609020204030204" pitchFamily="49" charset="0"/>
              </a:rPr>
              <a:t>np.random.randn</a:t>
            </a:r>
            <a:r>
              <a:rPr lang="en-IN" dirty="0">
                <a:latin typeface="Consolas" panose="020B0609020204030204" pitchFamily="49" charset="0"/>
              </a:rPr>
              <a:t>(1000)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onsolas" panose="020B0609020204030204" pitchFamily="49" charset="0"/>
              </a:rPr>
              <a:t>y = </a:t>
            </a:r>
            <a:r>
              <a:rPr lang="en-IN" dirty="0" err="1">
                <a:latin typeface="Consolas" panose="020B0609020204030204" pitchFamily="49" charset="0"/>
              </a:rPr>
              <a:t>np.random.randn</a:t>
            </a:r>
            <a:r>
              <a:rPr lang="en-IN" dirty="0">
                <a:latin typeface="Consolas" panose="020B0609020204030204" pitchFamily="49" charset="0"/>
              </a:rPr>
              <a:t>(1000)</a:t>
            </a:r>
          </a:p>
          <a:p>
            <a:pPr>
              <a:lnSpc>
                <a:spcPct val="150000"/>
              </a:lnSpc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Consolas" panose="020B0609020204030204" pitchFamily="49" charset="0"/>
              </a:rPr>
              <a:t>plt.hist2d(x, y, bins=30, </a:t>
            </a:r>
            <a:r>
              <a:rPr lang="en-IN" dirty="0" err="1">
                <a:latin typeface="Consolas" panose="020B0609020204030204" pitchFamily="49" charset="0"/>
              </a:rPr>
              <a:t>cmap</a:t>
            </a:r>
            <a:r>
              <a:rPr lang="en-IN" dirty="0">
                <a:latin typeface="Consolas" panose="020B0609020204030204" pitchFamily="49" charset="0"/>
              </a:rPr>
              <a:t>='plasma')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Consolas" panose="020B0609020204030204" pitchFamily="49" charset="0"/>
              </a:rPr>
              <a:t>plt.colorbar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Consolas" panose="020B0609020204030204" pitchFamily="49" charset="0"/>
              </a:rPr>
              <a:t>plt.title</a:t>
            </a:r>
            <a:r>
              <a:rPr lang="en-IN" dirty="0">
                <a:latin typeface="Consolas" panose="020B0609020204030204" pitchFamily="49" charset="0"/>
              </a:rPr>
              <a:t>('2D Density Plot')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Consolas" panose="020B0609020204030204" pitchFamily="49" charset="0"/>
              </a:rPr>
              <a:t>plt.show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B7B2D-469F-4A7C-9BAA-6795F00EAB1C}"/>
              </a:ext>
            </a:extLst>
          </p:cNvPr>
          <p:cNvSpPr txBox="1"/>
          <p:nvPr/>
        </p:nvSpPr>
        <p:spPr>
          <a:xfrm>
            <a:off x="275168" y="586600"/>
            <a:ext cx="6722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2D Density Plot  - Example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4B6047-CBAB-4279-B4F7-040085153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150" y="2197565"/>
            <a:ext cx="3665841" cy="31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30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B39974-D91F-4E78-A9FF-42648B4E6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638553"/>
              </p:ext>
            </p:extLst>
          </p:nvPr>
        </p:nvGraphicFramePr>
        <p:xfrm>
          <a:off x="761999" y="1320801"/>
          <a:ext cx="9990668" cy="34290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7667">
                  <a:extLst>
                    <a:ext uri="{9D8B030D-6E8A-4147-A177-3AD203B41FA5}">
                      <a16:colId xmlns:a16="http://schemas.microsoft.com/office/drawing/2014/main" val="2630340830"/>
                    </a:ext>
                  </a:extLst>
                </a:gridCol>
                <a:gridCol w="2497667">
                  <a:extLst>
                    <a:ext uri="{9D8B030D-6E8A-4147-A177-3AD203B41FA5}">
                      <a16:colId xmlns:a16="http://schemas.microsoft.com/office/drawing/2014/main" val="1972477215"/>
                    </a:ext>
                  </a:extLst>
                </a:gridCol>
                <a:gridCol w="2497667">
                  <a:extLst>
                    <a:ext uri="{9D8B030D-6E8A-4147-A177-3AD203B41FA5}">
                      <a16:colId xmlns:a16="http://schemas.microsoft.com/office/drawing/2014/main" val="4113191267"/>
                    </a:ext>
                  </a:extLst>
                </a:gridCol>
                <a:gridCol w="2497667">
                  <a:extLst>
                    <a:ext uri="{9D8B030D-6E8A-4147-A177-3AD203B41FA5}">
                      <a16:colId xmlns:a16="http://schemas.microsoft.com/office/drawing/2014/main" val="3276421685"/>
                    </a:ext>
                  </a:extLst>
                </a:gridCol>
              </a:tblGrid>
              <a:tr h="762001">
                <a:tc>
                  <a:txBody>
                    <a:bodyPr/>
                    <a:lstStyle/>
                    <a:p>
                      <a:r>
                        <a:rPr lang="en-IN" dirty="0"/>
                        <a:t>Plot Type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Real-Life Example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It Shows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17262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r>
                        <a:rPr lang="en-IN"/>
                        <a:t>Contour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Temperature on a metal 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Continuous field (function)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Smooth function; lines of equal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043502"/>
                  </a:ext>
                </a:extLst>
              </a:tr>
              <a:tr h="1333500">
                <a:tc>
                  <a:txBody>
                    <a:bodyPr/>
                    <a:lstStyle/>
                    <a:p>
                      <a:r>
                        <a:rPr lang="en-IN"/>
                        <a:t>2D Density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Bird locations in a park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Many discrete points (KDE)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Where points cluster; “hotspots”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986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189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B315-7406-4F93-9899-2645FF87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Histograms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5B223-AF96-4690-A0C5-A90548805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Histograms display the distribution of a dataset by dividing it into bins and counting the number of values in each bin. They are useful for analyzing data spread, skewness, and frequency.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14012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B435-5C92-4185-975D-A1E10544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D9EB-40BF-4B54-9E53-E7D8EB49D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7" y="1803401"/>
            <a:ext cx="10058400" cy="4023360"/>
          </a:xfrm>
        </p:spPr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matplotlib.pyplot</a:t>
            </a:r>
            <a:r>
              <a:rPr lang="en-IN" dirty="0">
                <a:latin typeface="Consolas" panose="020B0609020204030204" pitchFamily="49" charset="0"/>
              </a:rPr>
              <a:t> as </a:t>
            </a:r>
            <a:r>
              <a:rPr lang="en-IN" dirty="0" err="1">
                <a:latin typeface="Consolas" panose="020B0609020204030204" pitchFamily="49" charset="0"/>
              </a:rPr>
              <a:t>plt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import </a:t>
            </a:r>
            <a:r>
              <a:rPr lang="en-IN" dirty="0" err="1">
                <a:latin typeface="Consolas" panose="020B0609020204030204" pitchFamily="49" charset="0"/>
              </a:rPr>
              <a:t>numpy</a:t>
            </a:r>
            <a:r>
              <a:rPr lang="en-IN" dirty="0">
                <a:latin typeface="Consolas" panose="020B0609020204030204" pitchFamily="49" charset="0"/>
              </a:rPr>
              <a:t> as np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data = </a:t>
            </a:r>
            <a:r>
              <a:rPr lang="en-IN" dirty="0" err="1">
                <a:latin typeface="Consolas" panose="020B0609020204030204" pitchFamily="49" charset="0"/>
              </a:rPr>
              <a:t>np.random.randn</a:t>
            </a:r>
            <a:r>
              <a:rPr lang="en-IN" dirty="0">
                <a:latin typeface="Consolas" panose="020B0609020204030204" pitchFamily="49" charset="0"/>
              </a:rPr>
              <a:t>(1000)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plt.hist</a:t>
            </a:r>
            <a:r>
              <a:rPr lang="en-IN" dirty="0">
                <a:latin typeface="Consolas" panose="020B0609020204030204" pitchFamily="49" charset="0"/>
              </a:rPr>
              <a:t>(data, bins=30, </a:t>
            </a:r>
            <a:r>
              <a:rPr lang="en-IN" dirty="0" err="1">
                <a:latin typeface="Consolas" panose="020B0609020204030204" pitchFamily="49" charset="0"/>
              </a:rPr>
              <a:t>color</a:t>
            </a:r>
            <a:r>
              <a:rPr lang="en-IN" dirty="0">
                <a:latin typeface="Consolas" panose="020B0609020204030204" pitchFamily="49" charset="0"/>
              </a:rPr>
              <a:t>='</a:t>
            </a:r>
            <a:r>
              <a:rPr lang="en-IN" dirty="0" err="1">
                <a:latin typeface="Consolas" panose="020B0609020204030204" pitchFamily="49" charset="0"/>
              </a:rPr>
              <a:t>skyblue</a:t>
            </a:r>
            <a:r>
              <a:rPr lang="en-IN" dirty="0">
                <a:latin typeface="Consolas" panose="020B0609020204030204" pitchFamily="49" charset="0"/>
              </a:rPr>
              <a:t>', </a:t>
            </a:r>
            <a:r>
              <a:rPr lang="en-IN" dirty="0" err="1">
                <a:latin typeface="Consolas" panose="020B0609020204030204" pitchFamily="49" charset="0"/>
              </a:rPr>
              <a:t>edgecolor</a:t>
            </a:r>
            <a:r>
              <a:rPr lang="en-IN" dirty="0">
                <a:latin typeface="Consolas" panose="020B0609020204030204" pitchFamily="49" charset="0"/>
              </a:rPr>
              <a:t>='black')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plt.title</a:t>
            </a:r>
            <a:r>
              <a:rPr lang="en-IN" dirty="0">
                <a:latin typeface="Consolas" panose="020B0609020204030204" pitchFamily="49" charset="0"/>
              </a:rPr>
              <a:t>('Histogram')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plt.xlabel</a:t>
            </a:r>
            <a:r>
              <a:rPr lang="en-IN" dirty="0">
                <a:latin typeface="Consolas" panose="020B0609020204030204" pitchFamily="49" charset="0"/>
              </a:rPr>
              <a:t>('Value')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plt.ylabel</a:t>
            </a:r>
            <a:r>
              <a:rPr lang="en-IN" dirty="0">
                <a:latin typeface="Consolas" panose="020B0609020204030204" pitchFamily="49" charset="0"/>
              </a:rPr>
              <a:t>('Frequency')</a:t>
            </a:r>
          </a:p>
          <a:p>
            <a:r>
              <a:rPr lang="en-IN" dirty="0" err="1">
                <a:latin typeface="Consolas" panose="020B0609020204030204" pitchFamily="49" charset="0"/>
              </a:rPr>
              <a:t>plt.show</a:t>
            </a:r>
            <a:r>
              <a:rPr lang="en-IN" dirty="0">
                <a:latin typeface="Consolas" panose="020B0609020204030204" pitchFamily="49" charset="0"/>
              </a:rPr>
              <a:t>()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1D3D7-6DC9-40FA-97FA-4D7E6EC6F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865" y="1969346"/>
            <a:ext cx="4103192" cy="354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14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178D-EAEB-4614-B6C0-A5C5F9E1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with 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F6789-567B-448E-BE3E-8C297CF46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535920" cy="43687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Seaborn is a Python library for statistical data visualization, built on Matplotlib. It provides aesthetically pleasing and high-level plotting functions for exploratory data analysis.</a:t>
            </a:r>
          </a:p>
          <a:p>
            <a:r>
              <a:rPr lang="en-US" sz="2800" b="1" dirty="0"/>
              <a:t>Key Features:</a:t>
            </a:r>
            <a:endParaRPr lang="en-US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Automatic color palettes and styles.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Works seamlessly with Pandas </a:t>
            </a:r>
            <a:r>
              <a:rPr lang="en-US" sz="2800" dirty="0" err="1"/>
              <a:t>DataFrames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Supports advanced plots: histograms, KDE plots, scatter with regression, box plots, and heatmaps.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77968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2625-3605-49DA-9C0E-E90E7F73E4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719138"/>
            <a:ext cx="10058400" cy="1450976"/>
          </a:xfrm>
        </p:spPr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ECB8F-A9B7-45A4-91DB-234697F1942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9400" y="731838"/>
            <a:ext cx="11303000" cy="5578475"/>
          </a:xfrm>
        </p:spPr>
        <p:txBody>
          <a:bodyPr>
            <a:no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import seaborn as </a:t>
            </a:r>
            <a:r>
              <a:rPr lang="en-IN" sz="1200" dirty="0" err="1">
                <a:latin typeface="Consolas" panose="020B0609020204030204" pitchFamily="49" charset="0"/>
              </a:rPr>
              <a:t>sns</a:t>
            </a:r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import </a:t>
            </a:r>
            <a:r>
              <a:rPr lang="en-IN" sz="1200" dirty="0" err="1">
                <a:latin typeface="Consolas" panose="020B0609020204030204" pitchFamily="49" charset="0"/>
              </a:rPr>
              <a:t>matplotlib.pyplot</a:t>
            </a:r>
            <a:r>
              <a:rPr lang="en-IN" sz="1200" dirty="0">
                <a:latin typeface="Consolas" panose="020B0609020204030204" pitchFamily="49" charset="0"/>
              </a:rPr>
              <a:t> as </a:t>
            </a:r>
            <a:r>
              <a:rPr lang="en-IN" sz="1200" dirty="0" err="1">
                <a:latin typeface="Consolas" panose="020B0609020204030204" pitchFamily="49" charset="0"/>
              </a:rPr>
              <a:t>plt</a:t>
            </a:r>
            <a:endParaRPr lang="en-IN" sz="1200" dirty="0">
              <a:latin typeface="Consolas" panose="020B0609020204030204" pitchFamily="49" charset="0"/>
            </a:endParaRPr>
          </a:p>
          <a:p>
            <a:endParaRPr lang="en-IN" sz="1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Load sample dataset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tips = </a:t>
            </a:r>
            <a:r>
              <a:rPr lang="en-IN" sz="1200" dirty="0" err="1">
                <a:latin typeface="Consolas" panose="020B0609020204030204" pitchFamily="49" charset="0"/>
              </a:rPr>
              <a:t>sns.load_dataset</a:t>
            </a:r>
            <a:r>
              <a:rPr lang="en-IN" sz="1200" dirty="0">
                <a:latin typeface="Consolas" panose="020B0609020204030204" pitchFamily="49" charset="0"/>
              </a:rPr>
              <a:t>('tips')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Histogram with density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sns.histplot</a:t>
            </a:r>
            <a:r>
              <a:rPr lang="en-IN" sz="1200" dirty="0">
                <a:latin typeface="Consolas" panose="020B0609020204030204" pitchFamily="49" charset="0"/>
              </a:rPr>
              <a:t>(tips['</a:t>
            </a:r>
            <a:r>
              <a:rPr lang="en-IN" sz="1200" dirty="0" err="1">
                <a:latin typeface="Consolas" panose="020B0609020204030204" pitchFamily="49" charset="0"/>
              </a:rPr>
              <a:t>total_bill</a:t>
            </a:r>
            <a:r>
              <a:rPr lang="en-IN" sz="1200" dirty="0">
                <a:latin typeface="Consolas" panose="020B0609020204030204" pitchFamily="49" charset="0"/>
              </a:rPr>
              <a:t>'], bins=30, </a:t>
            </a:r>
            <a:r>
              <a:rPr lang="en-IN" sz="1200" dirty="0" err="1">
                <a:latin typeface="Consolas" panose="020B0609020204030204" pitchFamily="49" charset="0"/>
              </a:rPr>
              <a:t>kde</a:t>
            </a:r>
            <a:r>
              <a:rPr lang="en-IN" sz="1200" dirty="0">
                <a:latin typeface="Consolas" panose="020B0609020204030204" pitchFamily="49" charset="0"/>
              </a:rPr>
              <a:t>=True)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plt.show</a:t>
            </a:r>
            <a:r>
              <a:rPr lang="en-IN" sz="1200" dirty="0">
                <a:latin typeface="Consolas" panose="020B0609020204030204" pitchFamily="49" charset="0"/>
              </a:rPr>
              <a:t>()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Scatter plot with regression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sns.lmplot</a:t>
            </a:r>
            <a:r>
              <a:rPr lang="en-IN" sz="1200" dirty="0">
                <a:latin typeface="Consolas" panose="020B0609020204030204" pitchFamily="49" charset="0"/>
              </a:rPr>
              <a:t>(x='</a:t>
            </a:r>
            <a:r>
              <a:rPr lang="en-IN" sz="1200" dirty="0" err="1">
                <a:latin typeface="Consolas" panose="020B0609020204030204" pitchFamily="49" charset="0"/>
              </a:rPr>
              <a:t>total_bill</a:t>
            </a:r>
            <a:r>
              <a:rPr lang="en-IN" sz="1200" dirty="0">
                <a:latin typeface="Consolas" panose="020B0609020204030204" pitchFamily="49" charset="0"/>
              </a:rPr>
              <a:t>', y='tip', data=tips)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plt.show</a:t>
            </a:r>
            <a:r>
              <a:rPr lang="en-IN" sz="1200" dirty="0">
                <a:latin typeface="Consolas" panose="020B0609020204030204" pitchFamily="49" charset="0"/>
              </a:rPr>
              <a:t>()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# Box plot (categorical comparison)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sns.boxplot</a:t>
            </a:r>
            <a:r>
              <a:rPr lang="en-IN" sz="1200" dirty="0">
                <a:latin typeface="Consolas" panose="020B0609020204030204" pitchFamily="49" charset="0"/>
              </a:rPr>
              <a:t>(x='day', y='</a:t>
            </a:r>
            <a:r>
              <a:rPr lang="en-IN" sz="1200" dirty="0" err="1">
                <a:latin typeface="Consolas" panose="020B0609020204030204" pitchFamily="49" charset="0"/>
              </a:rPr>
              <a:t>total_bill</a:t>
            </a:r>
            <a:r>
              <a:rPr lang="en-IN" sz="1200" dirty="0">
                <a:latin typeface="Consolas" panose="020B0609020204030204" pitchFamily="49" charset="0"/>
              </a:rPr>
              <a:t>', data=tips)</a:t>
            </a:r>
          </a:p>
          <a:p>
            <a:r>
              <a:rPr lang="en-IN" sz="1200" dirty="0" err="1">
                <a:latin typeface="Consolas" panose="020B0609020204030204" pitchFamily="49" charset="0"/>
              </a:rPr>
              <a:t>plt.show</a:t>
            </a:r>
            <a:r>
              <a:rPr lang="en-IN" sz="1200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59FAB-D015-494F-8D63-7D877065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08" y="849312"/>
            <a:ext cx="611505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86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8765A-D45D-4FB1-9577-32202CFDD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33" y="-36236"/>
            <a:ext cx="9414933" cy="1062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Notes: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latin typeface="Arial" panose="020B0604020202020204" pitchFamily="34" charset="0"/>
              </a:rPr>
              <a:t>Kde</a:t>
            </a:r>
            <a:r>
              <a:rPr lang="en-US" altLang="en-US" sz="1400" dirty="0">
                <a:latin typeface="Arial" panose="020B0604020202020204" pitchFamily="34" charset="0"/>
              </a:rPr>
              <a:t> = True adds a smooth density curve.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Seaborn simplifies statistical visualization with </a:t>
            </a:r>
            <a:r>
              <a:rPr lang="en-US" altLang="en-US" sz="1600" dirty="0">
                <a:latin typeface="Arial" panose="020B0604020202020204" pitchFamily="34" charset="0"/>
              </a:rPr>
              <a:t>minimal</a:t>
            </a:r>
            <a:r>
              <a:rPr lang="en-US" altLang="en-US" sz="1400" dirty="0">
                <a:latin typeface="Arial" panose="020B0604020202020204" pitchFamily="34" charset="0"/>
              </a:rPr>
              <a:t> code.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690A97-12B2-4DDB-9A9F-2F76501CE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66" y="1418352"/>
            <a:ext cx="3984462" cy="4555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83E33D-631D-4BDD-85CA-65F2CB84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0" y="1418352"/>
            <a:ext cx="5279626" cy="455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612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152</TotalTime>
  <Words>2077</Words>
  <Application>Microsoft Office PowerPoint</Application>
  <PresentationFormat>Widescreen</PresentationFormat>
  <Paragraphs>288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Wingdings</vt:lpstr>
      <vt:lpstr>Retrospect</vt:lpstr>
      <vt:lpstr>Unit IV  DATA VISUALIZATION</vt:lpstr>
      <vt:lpstr>Data Visualization</vt:lpstr>
      <vt:lpstr>Installing and Importing Libraries</vt:lpstr>
      <vt:lpstr>Line plots</vt:lpstr>
      <vt:lpstr>Creating Line Plots with Matplotlib</vt:lpstr>
      <vt:lpstr>Example : Simple Line Plot</vt:lpstr>
      <vt:lpstr>Scatter plots</vt:lpstr>
      <vt:lpstr>Creating Scatter Plots with Matplotlib</vt:lpstr>
      <vt:lpstr>Example 1</vt:lpstr>
      <vt:lpstr>Example 2: Scatter Plot with Multiple Groups</vt:lpstr>
      <vt:lpstr>Visualizing errors</vt:lpstr>
      <vt:lpstr>PowerPoint Presentation</vt:lpstr>
      <vt:lpstr>Creating Error Bars with Matplotlib</vt:lpstr>
      <vt:lpstr>Density and contour plots</vt:lpstr>
      <vt:lpstr>What is a 2D Gaussian Function?</vt:lpstr>
      <vt:lpstr>PowerPoint Presentation</vt:lpstr>
      <vt:lpstr>PowerPoint Presentation</vt:lpstr>
      <vt:lpstr>Contour plot</vt:lpstr>
      <vt:lpstr>Creating Contour Plots with Matplotlib</vt:lpstr>
      <vt:lpstr>PowerPoint Presentation</vt:lpstr>
      <vt:lpstr>PowerPoint Presentation</vt:lpstr>
      <vt:lpstr>PowerPoint Presentation</vt:lpstr>
      <vt:lpstr>Histograms </vt:lpstr>
      <vt:lpstr>Example</vt:lpstr>
      <vt:lpstr>Visualization with Seaborn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 DATA VISUALIZATION</dc:title>
  <dc:creator>ADMIN</dc:creator>
  <cp:lastModifiedBy>ADMIN</cp:lastModifiedBy>
  <cp:revision>22</cp:revision>
  <dcterms:created xsi:type="dcterms:W3CDTF">2025-12-17T08:35:14Z</dcterms:created>
  <dcterms:modified xsi:type="dcterms:W3CDTF">2025-12-17T11:07:54Z</dcterms:modified>
</cp:coreProperties>
</file>