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8" r:id="rId4"/>
    <p:sldId id="258" r:id="rId5"/>
    <p:sldId id="269" r:id="rId6"/>
    <p:sldId id="259" r:id="rId7"/>
    <p:sldId id="270" r:id="rId8"/>
    <p:sldId id="260" r:id="rId9"/>
    <p:sldId id="261" r:id="rId10"/>
    <p:sldId id="278" r:id="rId11"/>
    <p:sldId id="279" r:id="rId12"/>
    <p:sldId id="280" r:id="rId13"/>
    <p:sldId id="281" r:id="rId14"/>
    <p:sldId id="282" r:id="rId15"/>
    <p:sldId id="283" r:id="rId16"/>
    <p:sldId id="271" r:id="rId17"/>
    <p:sldId id="262" r:id="rId18"/>
    <p:sldId id="263" r:id="rId19"/>
    <p:sldId id="272" r:id="rId20"/>
    <p:sldId id="264" r:id="rId21"/>
    <p:sldId id="273" r:id="rId22"/>
    <p:sldId id="265" r:id="rId23"/>
    <p:sldId id="284" r:id="rId24"/>
    <p:sldId id="266" r:id="rId25"/>
    <p:sldId id="285" r:id="rId26"/>
    <p:sldId id="286" r:id="rId27"/>
    <p:sldId id="274" r:id="rId28"/>
    <p:sldId id="276" r:id="rId29"/>
    <p:sldId id="277" r:id="rId30"/>
    <p:sldId id="267" r:id="rId31"/>
    <p:sldId id="275" r:id="rId32"/>
    <p:sldId id="287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9" d="100"/>
          <a:sy n="69" d="100"/>
        </p:scale>
        <p:origin x="6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1F3C3-8872-4834-B28E-2CFBEF863303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8B97F45E-D2E1-4514-AC05-42A8B211B2A3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12524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1F3C3-8872-4834-B28E-2CFBEF863303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7F45E-D2E1-4514-AC05-42A8B211B2A3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60881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1F3C3-8872-4834-B28E-2CFBEF863303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7F45E-D2E1-4514-AC05-42A8B211B2A3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02408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1F3C3-8872-4834-B28E-2CFBEF863303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7F45E-D2E1-4514-AC05-42A8B211B2A3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0605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1F3C3-8872-4834-B28E-2CFBEF863303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7F45E-D2E1-4514-AC05-42A8B211B2A3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60044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1F3C3-8872-4834-B28E-2CFBEF863303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7F45E-D2E1-4514-AC05-42A8B211B2A3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451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1F3C3-8872-4834-B28E-2CFBEF863303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7F45E-D2E1-4514-AC05-42A8B211B2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50058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1F3C3-8872-4834-B28E-2CFBEF863303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7F45E-D2E1-4514-AC05-42A8B211B2A3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9676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6931F3C3-8872-4834-B28E-2CFBEF863303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7F45E-D2E1-4514-AC05-42A8B211B2A3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92794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1F3C3-8872-4834-B28E-2CFBEF863303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7F45E-D2E1-4514-AC05-42A8B211B2A3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570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1F3C3-8872-4834-B28E-2CFBEF863303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7F45E-D2E1-4514-AC05-42A8B211B2A3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7824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31F3C3-8872-4834-B28E-2CFBEF863303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8B97F45E-D2E1-4514-AC05-42A8B211B2A3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6288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e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DDF6F-D428-4885-8FC7-B010A0C0344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MACHINE LEARNING ALGORITHMS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E22933-8DF7-4DFF-B1A7-6F1DEDE2FDA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UNIT – V</a:t>
            </a:r>
          </a:p>
        </p:txBody>
      </p:sp>
    </p:spTree>
    <p:extLst>
      <p:ext uri="{BB962C8B-B14F-4D97-AF65-F5344CB8AC3E}">
        <p14:creationId xmlns:p14="http://schemas.microsoft.com/office/powerpoint/2010/main" val="11277865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485A9-1D97-4DB6-888F-9336C000E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 to Machine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860D28-347F-4650-B9FF-DF87769859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Machine Learning is a branch of Artificial Intelligence.</a:t>
            </a:r>
          </a:p>
          <a:p>
            <a:r>
              <a:rPr lang="en-US" sz="2400" dirty="0"/>
              <a:t>Machine Learning (ML) allows systems to automatically learn patterns from data and improve their performance over time. </a:t>
            </a:r>
          </a:p>
          <a:p>
            <a:r>
              <a:rPr lang="en-US" sz="2400" dirty="0"/>
              <a:t>ML algorithms are mainly categorized into:</a:t>
            </a:r>
          </a:p>
          <a:p>
            <a:pPr marL="0" indent="0">
              <a:buNone/>
            </a:pPr>
            <a:r>
              <a:rPr lang="en-US" sz="2400" b="1" dirty="0"/>
              <a:t>	Supervised Learning</a:t>
            </a:r>
            <a:r>
              <a:rPr lang="en-US" sz="2400" dirty="0"/>
              <a:t> – Uses labeled data</a:t>
            </a:r>
          </a:p>
          <a:p>
            <a:pPr marL="0" indent="0">
              <a:buNone/>
            </a:pPr>
            <a:r>
              <a:rPr lang="en-US" sz="2400" b="1" dirty="0"/>
              <a:t>	Unsupervised Learning</a:t>
            </a:r>
            <a:r>
              <a:rPr lang="en-US" sz="2400" dirty="0"/>
              <a:t> – Uses unlabeled data</a:t>
            </a:r>
          </a:p>
          <a:p>
            <a:pPr marL="0" indent="0">
              <a:buNone/>
            </a:pPr>
            <a:r>
              <a:rPr lang="en-US" sz="2400" b="1" dirty="0"/>
              <a:t>	Reinforcement Learning</a:t>
            </a:r>
            <a:r>
              <a:rPr lang="en-US" sz="2400" dirty="0"/>
              <a:t> – Learns through rewards and penalties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8967387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0FA31-714C-4522-8BAE-9F5A2119A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81A75B-C3D5-41E9-97E8-5184ACFDEA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16B26A-0BBD-42E7-8EF5-FE91074850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1799" y="1012213"/>
            <a:ext cx="7984067" cy="3992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492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42BBA-FF16-412C-84DC-611F6E1D5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Classification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91B293-9251-4FBF-ABBC-D501FE0FFA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Classification is a </a:t>
            </a:r>
            <a:r>
              <a:rPr lang="en-US" b="1" dirty="0"/>
              <a:t>supervised learning technique</a:t>
            </a:r>
            <a:r>
              <a:rPr lang="en-US" dirty="0"/>
              <a:t> in which data is categorized into predefined classes or labels.</a:t>
            </a:r>
          </a:p>
          <a:p>
            <a:r>
              <a:rPr lang="en-US" dirty="0"/>
              <a:t>It is commonly used in spam detection, medical diagnosis, and customer classification.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50C4A7-50F3-46D4-BC44-16510735AB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067" y="3709229"/>
            <a:ext cx="5181600" cy="2400045"/>
          </a:xfrm>
          <a:prstGeom prst="rect">
            <a:avLst/>
          </a:prstGeom>
        </p:spPr>
      </p:pic>
      <p:pic>
        <p:nvPicPr>
          <p:cNvPr id="4098" name="Picture 2" descr="How spam detection taught us better tech support | Google Cloud Blog">
            <a:extLst>
              <a:ext uri="{FF2B5EF4-FFF2-40B4-BE49-F238E27FC236}">
                <a16:creationId xmlns:a16="http://schemas.microsoft.com/office/drawing/2014/main" id="{04101EB2-D724-4C0E-81C4-A1AE380186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3400" y="3709102"/>
            <a:ext cx="4893732" cy="24468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67760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3B5F2-49E6-4265-8CE8-F23A75C07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Example: Email Spam Detection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6256A-6835-43B6-97AA-ACB0AF230A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Emails are classified into two categories:</a:t>
            </a:r>
          </a:p>
          <a:p>
            <a:pPr lvl="1"/>
            <a:r>
              <a:rPr lang="en-US" b="1" dirty="0"/>
              <a:t>Spam</a:t>
            </a:r>
            <a:endParaRPr lang="en-US" dirty="0"/>
          </a:p>
          <a:p>
            <a:pPr lvl="1"/>
            <a:r>
              <a:rPr lang="en-US" b="1" dirty="0"/>
              <a:t>Not Spam</a:t>
            </a:r>
            <a:endParaRPr lang="en-US" dirty="0"/>
          </a:p>
          <a:p>
            <a:r>
              <a:rPr lang="en-US" dirty="0"/>
              <a:t>A machine learning classification model learns from past labeled emails and predicts whether a new email is spam based on words, sender details, and links.</a:t>
            </a:r>
          </a:p>
          <a:p>
            <a:r>
              <a:rPr lang="en-US" b="1" dirty="0"/>
              <a:t>Used In:</a:t>
            </a:r>
            <a:r>
              <a:rPr lang="en-US" dirty="0"/>
              <a:t> Gmail, Outlook, Yahoo Mail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934197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76DE8-9884-4206-BC66-5EB55109C7C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49225" y="13855"/>
            <a:ext cx="9604375" cy="1049337"/>
          </a:xfrm>
        </p:spPr>
        <p:txBody>
          <a:bodyPr>
            <a:normAutofit/>
          </a:bodyPr>
          <a:lstStyle/>
          <a:p>
            <a:r>
              <a:rPr lang="en-IN" sz="3600" dirty="0"/>
              <a:t>Support Vector Machines (SVM)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BBDF03-8F01-471B-9A41-4738CB1BB12F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509443" y="650659"/>
            <a:ext cx="11211502" cy="4890655"/>
          </a:xfrm>
        </p:spPr>
        <p:txBody>
          <a:bodyPr>
            <a:noAutofit/>
          </a:bodyPr>
          <a:lstStyle/>
          <a:p>
            <a:r>
              <a:rPr lang="en-US" sz="2400" dirty="0"/>
              <a:t>Support Vector Machine is a powerful classification algorithm used to separate data into different classes by finding an </a:t>
            </a:r>
            <a:r>
              <a:rPr lang="en-US" sz="2400" b="1" dirty="0"/>
              <a:t>optimal hyperplane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r>
              <a:rPr lang="en-US" sz="2400" b="1" dirty="0"/>
              <a:t>Key Features:</a:t>
            </a:r>
          </a:p>
          <a:p>
            <a:r>
              <a:rPr lang="en-US" sz="2400" dirty="0"/>
              <a:t>Works well with high-dimensional data</a:t>
            </a:r>
          </a:p>
          <a:p>
            <a:r>
              <a:rPr lang="en-US" sz="2400" dirty="0"/>
              <a:t>Effective when the number of features is greater than the number of samples</a:t>
            </a:r>
          </a:p>
          <a:p>
            <a:r>
              <a:rPr lang="en-US" sz="2400" dirty="0"/>
              <a:t>Uses kernel functions for non-linear classification</a:t>
            </a:r>
          </a:p>
          <a:p>
            <a:pPr marL="0" indent="0">
              <a:buNone/>
            </a:pPr>
            <a:r>
              <a:rPr lang="en-US" sz="2400" b="1" dirty="0"/>
              <a:t>Applications:</a:t>
            </a:r>
          </a:p>
          <a:p>
            <a:r>
              <a:rPr lang="en-US" sz="2400" dirty="0"/>
              <a:t>Face recognition</a:t>
            </a:r>
          </a:p>
          <a:p>
            <a:r>
              <a:rPr lang="en-US" sz="2400" dirty="0"/>
              <a:t>Text classification</a:t>
            </a:r>
          </a:p>
          <a:p>
            <a:r>
              <a:rPr lang="en-US" sz="2400" dirty="0"/>
              <a:t>Bioinformatics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6543962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38561-9DB6-48DB-A104-05511AFF6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Example: Face Recognition System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5A5496-6CDA-47C9-ACAB-7B20E4A177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10255512" cy="3345977"/>
          </a:xfrm>
        </p:spPr>
        <p:txBody>
          <a:bodyPr>
            <a:noAutofit/>
          </a:bodyPr>
          <a:lstStyle/>
          <a:p>
            <a:r>
              <a:rPr lang="en-US" sz="2800" dirty="0"/>
              <a:t>SVM is used to separate faces of different individuals by drawing an optimal boundary between facial features.</a:t>
            </a:r>
          </a:p>
          <a:p>
            <a:r>
              <a:rPr lang="en-US" sz="2800" dirty="0"/>
              <a:t>Each person’s face data forms a class</a:t>
            </a:r>
          </a:p>
          <a:p>
            <a:r>
              <a:rPr lang="en-US" sz="2800" dirty="0"/>
              <a:t>SVM finds the best separating hyperplane</a:t>
            </a:r>
          </a:p>
          <a:p>
            <a:r>
              <a:rPr lang="en-US" sz="2800" b="1" dirty="0"/>
              <a:t>Used In:</a:t>
            </a:r>
            <a:r>
              <a:rPr lang="en-US" sz="2800" dirty="0"/>
              <a:t> Mobile phone face unlock, security systems, surveillance cameras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6087135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6A4F6-E856-4DF7-B0A7-59A7268FB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Naive Bayes Classifier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3D254-9440-4632-843D-154965A41F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Naive Bayes is a probabilistic classifier based on </a:t>
            </a:r>
            <a:r>
              <a:rPr lang="en-US" sz="2800" b="1" dirty="0"/>
              <a:t>Bayes’ Theorem</a:t>
            </a:r>
            <a:r>
              <a:rPr lang="en-US" sz="2800" dirty="0"/>
              <a:t> with the assumption that features are independent.</a:t>
            </a:r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3653CB-F401-435D-A11C-B12A2EC6F1A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444" t="18910" r="39236" b="65263"/>
          <a:stretch/>
        </p:blipFill>
        <p:spPr>
          <a:xfrm>
            <a:off x="2468418" y="3388614"/>
            <a:ext cx="6155258" cy="1267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8668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6DEBE2-6155-428B-B594-6ED16595B77F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994352" y="561398"/>
            <a:ext cx="9604375" cy="34496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b="1" dirty="0"/>
              <a:t>Advantages:</a:t>
            </a:r>
          </a:p>
          <a:p>
            <a:r>
              <a:rPr lang="en-US" sz="2800" dirty="0"/>
              <a:t>Simple and fast</a:t>
            </a:r>
          </a:p>
          <a:p>
            <a:r>
              <a:rPr lang="en-US" sz="2800" dirty="0"/>
              <a:t>Works well with large datasets</a:t>
            </a:r>
          </a:p>
          <a:p>
            <a:r>
              <a:rPr lang="en-US" sz="2800" dirty="0"/>
              <a:t>Requires less training data</a:t>
            </a:r>
          </a:p>
          <a:p>
            <a:pPr marL="0" indent="0">
              <a:buNone/>
            </a:pPr>
            <a:r>
              <a:rPr lang="en-US" sz="2800" b="1" dirty="0"/>
              <a:t>Applications:</a:t>
            </a:r>
          </a:p>
          <a:p>
            <a:r>
              <a:rPr lang="en-US" sz="2800" dirty="0"/>
              <a:t>Spam email filtering</a:t>
            </a:r>
          </a:p>
          <a:p>
            <a:r>
              <a:rPr lang="en-US" sz="2800" dirty="0"/>
              <a:t>Sentiment analysis</a:t>
            </a:r>
          </a:p>
          <a:p>
            <a:r>
              <a:rPr lang="en-US" sz="2800" dirty="0"/>
              <a:t>Document classification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0552340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Example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Consider the Dataset:</a:t>
            </a:r>
            <a:endParaRPr lang="en-IN" dirty="0"/>
          </a:p>
        </p:txBody>
      </p:sp>
      <p:pic>
        <p:nvPicPr>
          <p:cNvPr id="1026" name="Picture 2" descr="https://www.kdnuggets.com/wp-content/uploads/bayes-nagesh-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0012" y="2535382"/>
            <a:ext cx="6200775" cy="3495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51344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ttps://www.kdnuggets.com/wp-content/uploads/bayes-nagesh-8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0411" y="3242919"/>
            <a:ext cx="7496175" cy="3495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https://www.kdnuggets.com/wp-content/uploads/bayes-nagesh-2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3251" y="-74741"/>
            <a:ext cx="5885005" cy="3317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2396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https://www.kdnuggets.com/wp-content/uploads/bayes-nagesh-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3251" y="-74741"/>
            <a:ext cx="5885005" cy="3317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https://www.kdnuggets.com/wp-content/uploads/bayes-nagesh-9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5890"/>
          <a:stretch/>
        </p:blipFill>
        <p:spPr bwMode="auto">
          <a:xfrm>
            <a:off x="1651866" y="3242918"/>
            <a:ext cx="4056207" cy="3495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Question mark thinking Images - Free Download on Freepik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6037" y="3738880"/>
            <a:ext cx="2291592" cy="2455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6702396" y="3369548"/>
            <a:ext cx="19596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Likelihood Table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034001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https://www.kdnuggets.com/wp-content/uploads/bayes-nagesh-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3251" y="-74741"/>
            <a:ext cx="5885005" cy="3317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Question mark thinking Images - Free Download on Freepik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6037" y="3738880"/>
            <a:ext cx="2291592" cy="2455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6336037" y="3532665"/>
            <a:ext cx="31136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Likelihood Table </a:t>
            </a:r>
            <a:r>
              <a:rPr lang="en-GB" dirty="0"/>
              <a:t>for Origin</a:t>
            </a:r>
            <a:endParaRPr lang="en-IN" dirty="0"/>
          </a:p>
          <a:p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1875883" y="3486499"/>
            <a:ext cx="31918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Frequency Table for Origin</a:t>
            </a:r>
            <a:endParaRPr lang="en-IN" dirty="0"/>
          </a:p>
        </p:txBody>
      </p:sp>
      <p:pic>
        <p:nvPicPr>
          <p:cNvPr id="8" name="Picture 4" descr="Question mark thinking Images - Free Download on Freepik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9714" y="3738879"/>
            <a:ext cx="2291592" cy="2455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03598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https://www.kdnuggets.com/wp-content/uploads/bayes-nagesh-1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1866" y="899651"/>
            <a:ext cx="6102006" cy="1022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ontent Placeholder 5"/>
          <p:cNvSpPr>
            <a:spLocks noGrp="1"/>
          </p:cNvSpPr>
          <p:nvPr>
            <p:ph idx="4294967295"/>
          </p:nvPr>
        </p:nvSpPr>
        <p:spPr>
          <a:xfrm>
            <a:off x="2091866" y="2137310"/>
            <a:ext cx="9604375" cy="3449638"/>
          </a:xfrm>
        </p:spPr>
        <p:txBody>
          <a:bodyPr/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solidFill>
                  <a:srgbClr val="111111"/>
                </a:solidFill>
                <a:latin typeface="Open Sans"/>
              </a:rPr>
              <a:t>we can calculate the posterior probability P(Yes | X) as :</a:t>
            </a:r>
            <a:endParaRPr lang="en-US" altLang="en-US" sz="1600" dirty="0"/>
          </a:p>
        </p:txBody>
      </p:sp>
      <p:pic>
        <p:nvPicPr>
          <p:cNvPr id="5124" name="Picture 4" descr="https://www.kdnuggets.com/wp-content/uploads/bayes-nagesh-12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7058"/>
          <a:stretch/>
        </p:blipFill>
        <p:spPr bwMode="auto">
          <a:xfrm>
            <a:off x="2303864" y="2718182"/>
            <a:ext cx="5400675" cy="388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Question mark thinking Images - Free Download on Freepik"/>
          <p:cNvPicPr>
            <a:picLocks noChangeAspect="1" noChangeArrowheads="1"/>
          </p:cNvPicPr>
          <p:nvPr/>
        </p:nvPicPr>
        <p:blipFill>
          <a:blip r:embed="rId4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1733" y="3106757"/>
            <a:ext cx="1584836" cy="1698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/>
          <p:cNvSpPr/>
          <p:nvPr/>
        </p:nvSpPr>
        <p:spPr>
          <a:xfrm>
            <a:off x="2303864" y="3322033"/>
            <a:ext cx="13211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>
                <a:solidFill>
                  <a:srgbClr val="111111"/>
                </a:solidFill>
                <a:latin typeface="Open Sans"/>
              </a:rPr>
              <a:t>P( No | X ):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78696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Since 0.144 &gt; 0.048, Which means given the features RED SUV and Domestic, our example gets classified as ’NO’ the car is not stolen.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122468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B516C-0076-40FD-8211-074E50D4B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Example: SMS and Email Spam Filtering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D790C9-2E4F-492B-B6D3-9A0216A54D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Naive Bayes calculates the probability of a message being spam based on the words used.</a:t>
            </a:r>
          </a:p>
          <a:p>
            <a:r>
              <a:rPr lang="en-US" sz="2800" dirty="0"/>
              <a:t>Words like </a:t>
            </a:r>
            <a:r>
              <a:rPr lang="en-US" sz="2800" i="1" dirty="0"/>
              <a:t>“free”, “win”, “offer”</a:t>
            </a:r>
            <a:r>
              <a:rPr lang="en-US" sz="2800" dirty="0"/>
              <a:t> increase spam probability</a:t>
            </a:r>
          </a:p>
          <a:p>
            <a:r>
              <a:rPr lang="en-US" sz="2800" dirty="0"/>
              <a:t>Very fast and efficient</a:t>
            </a:r>
          </a:p>
          <a:p>
            <a:r>
              <a:rPr lang="en-US" sz="2800" b="1" dirty="0"/>
              <a:t>Used In:</a:t>
            </a:r>
            <a:r>
              <a:rPr lang="en-US" sz="2800" dirty="0"/>
              <a:t> Email filtering systems, text classification, sentiment analysis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914917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B5F54-7B5A-416B-A1FA-266CD6178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Decision Trees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4540D1-12D0-4E34-801D-DECAD10EE5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4379" y="2043442"/>
            <a:ext cx="10740421" cy="3387540"/>
          </a:xfrm>
        </p:spPr>
        <p:txBody>
          <a:bodyPr>
            <a:noAutofit/>
          </a:bodyPr>
          <a:lstStyle/>
          <a:p>
            <a:r>
              <a:rPr lang="en-US" sz="2800" dirty="0"/>
              <a:t>A Decision Tree is a supervised learning algorithm that uses a </a:t>
            </a:r>
            <a:r>
              <a:rPr lang="en-US" sz="2800" b="1" dirty="0"/>
              <a:t>tree-like structure</a:t>
            </a:r>
            <a:r>
              <a:rPr lang="en-US" sz="2800" dirty="0"/>
              <a:t> to make decisions.</a:t>
            </a:r>
          </a:p>
          <a:p>
            <a:pPr marL="0" indent="0">
              <a:buNone/>
            </a:pPr>
            <a:r>
              <a:rPr lang="en-US" sz="2800" b="1" dirty="0"/>
              <a:t>Components of Decision Tree:</a:t>
            </a:r>
          </a:p>
          <a:p>
            <a:r>
              <a:rPr lang="en-US" sz="2800" b="1" dirty="0"/>
              <a:t>Root Node</a:t>
            </a:r>
            <a:r>
              <a:rPr lang="en-US" sz="2800" dirty="0"/>
              <a:t> – Represents the entire dataset</a:t>
            </a:r>
          </a:p>
          <a:p>
            <a:r>
              <a:rPr lang="en-US" sz="2800" b="1" dirty="0"/>
              <a:t>Decision Nodes</a:t>
            </a:r>
            <a:r>
              <a:rPr lang="en-US" sz="2800" dirty="0"/>
              <a:t> – Represent feature-based decisions</a:t>
            </a:r>
          </a:p>
          <a:p>
            <a:r>
              <a:rPr lang="en-US" sz="2800" b="1" dirty="0"/>
              <a:t>Leaf Nodes</a:t>
            </a:r>
            <a:r>
              <a:rPr lang="en-US" sz="2800" dirty="0"/>
              <a:t> – Represent final output or class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3368426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C80815-CF6A-4E7C-AF9D-1157D93F67B2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551007" y="630670"/>
            <a:ext cx="9604375" cy="34496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b="1" dirty="0"/>
              <a:t>Advantages:</a:t>
            </a:r>
          </a:p>
          <a:p>
            <a:r>
              <a:rPr lang="en-US" sz="2800" dirty="0"/>
              <a:t>Easy to understand and interpret</a:t>
            </a:r>
          </a:p>
          <a:p>
            <a:r>
              <a:rPr lang="en-US" sz="2800" dirty="0"/>
              <a:t>Handles both numerical and categorical data</a:t>
            </a:r>
          </a:p>
          <a:p>
            <a:r>
              <a:rPr lang="en-US" sz="2800" dirty="0"/>
              <a:t>Requires little data preprocessing</a:t>
            </a:r>
          </a:p>
          <a:p>
            <a:pPr marL="0" indent="0">
              <a:buNone/>
            </a:pPr>
            <a:r>
              <a:rPr lang="en-US" sz="2800" b="1" dirty="0"/>
              <a:t>Applications:</a:t>
            </a:r>
          </a:p>
          <a:p>
            <a:r>
              <a:rPr lang="en-US" sz="2800" dirty="0"/>
              <a:t>Credit risk analysis</a:t>
            </a:r>
          </a:p>
          <a:p>
            <a:r>
              <a:rPr lang="en-US" sz="2800" dirty="0"/>
              <a:t>Customer segmentation</a:t>
            </a:r>
          </a:p>
          <a:p>
            <a:r>
              <a:rPr lang="en-US" sz="2800" dirty="0"/>
              <a:t>Medical diagnosis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6992955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62B74-653E-4315-9BF6-EF9BF8A9E9F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41044" y="236827"/>
            <a:ext cx="9604375" cy="1049337"/>
          </a:xfrm>
        </p:spPr>
        <p:txBody>
          <a:bodyPr/>
          <a:lstStyle/>
          <a:p>
            <a:r>
              <a:rPr lang="en-US" b="1" dirty="0"/>
              <a:t>Example: Loan Approval System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431F9A-E9F4-4963-9DE2-43444B9DC88F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360218" y="1008063"/>
            <a:ext cx="9602788" cy="3451225"/>
          </a:xfrm>
        </p:spPr>
        <p:txBody>
          <a:bodyPr>
            <a:noAutofit/>
          </a:bodyPr>
          <a:lstStyle/>
          <a:p>
            <a:r>
              <a:rPr lang="en-US" sz="2800" dirty="0"/>
              <a:t>Banks use Decision Trees to decide whether to approve a loan.</a:t>
            </a:r>
          </a:p>
          <a:p>
            <a:pPr marL="0" indent="0">
              <a:buNone/>
            </a:pPr>
            <a:r>
              <a:rPr lang="en-US" sz="2800" b="1" dirty="0"/>
              <a:t>Decision Conditions:</a:t>
            </a:r>
            <a:endParaRPr lang="en-US" sz="2800" dirty="0"/>
          </a:p>
          <a:p>
            <a:r>
              <a:rPr lang="en-US" sz="2800" dirty="0"/>
              <a:t>Income level</a:t>
            </a:r>
          </a:p>
          <a:p>
            <a:r>
              <a:rPr lang="en-US" sz="2800" dirty="0"/>
              <a:t>Credit score</a:t>
            </a:r>
          </a:p>
          <a:p>
            <a:r>
              <a:rPr lang="en-US" sz="2800" dirty="0"/>
              <a:t>Employment status</a:t>
            </a:r>
          </a:p>
          <a:p>
            <a:r>
              <a:rPr lang="en-US" sz="2800" dirty="0"/>
              <a:t>Each decision is represented as a branch in the tree.</a:t>
            </a:r>
          </a:p>
          <a:p>
            <a:r>
              <a:rPr lang="en-US" sz="2800" b="1" dirty="0"/>
              <a:t>Used In:</a:t>
            </a:r>
            <a:r>
              <a:rPr lang="en-US" sz="2800" dirty="0"/>
              <a:t> Banking, insurance, customer risk assessment</a:t>
            </a:r>
          </a:p>
          <a:p>
            <a:endParaRPr lang="en-IN" sz="28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3583" y="1588668"/>
            <a:ext cx="4263671" cy="2494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9886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229AF-30DF-491A-91CF-33716178E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Clustering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98BDA8-1E46-4E93-9AC8-C78BA44F77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9289" y="1837144"/>
            <a:ext cx="10712711" cy="3450613"/>
          </a:xfrm>
        </p:spPr>
        <p:txBody>
          <a:bodyPr>
            <a:normAutofit/>
          </a:bodyPr>
          <a:lstStyle/>
          <a:p>
            <a:r>
              <a:rPr lang="en-US" sz="2800" dirty="0"/>
              <a:t>Clustering is an </a:t>
            </a:r>
            <a:r>
              <a:rPr lang="en-US" sz="2800" b="1" dirty="0"/>
              <a:t>unsupervised learning technique</a:t>
            </a:r>
            <a:r>
              <a:rPr lang="en-US" sz="2800" dirty="0"/>
              <a:t> that groups similar data points into clusters without using labeled data.</a:t>
            </a:r>
          </a:p>
          <a:p>
            <a:endParaRPr lang="en-IN" sz="28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844" y="2993774"/>
            <a:ext cx="8205061" cy="4293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91950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FA3D0-DF57-40B2-BCBC-2F5022701A0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34134" y="209117"/>
            <a:ext cx="9604375" cy="1049337"/>
          </a:xfrm>
        </p:spPr>
        <p:txBody>
          <a:bodyPr/>
          <a:lstStyle/>
          <a:p>
            <a:r>
              <a:rPr lang="en-IN" dirty="0"/>
              <a:t>Example: Customer Segmentation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00FF9F-29C2-4307-B8C9-57719EDB7FD5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34134" y="955965"/>
            <a:ext cx="10962120" cy="471069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dirty="0"/>
              <a:t>Companies group customers based on:</a:t>
            </a:r>
          </a:p>
          <a:p>
            <a:r>
              <a:rPr lang="en-US" sz="2800" dirty="0"/>
              <a:t>Buying behavior</a:t>
            </a:r>
          </a:p>
          <a:p>
            <a:r>
              <a:rPr lang="en-US" sz="2800" dirty="0"/>
              <a:t>Age</a:t>
            </a:r>
          </a:p>
          <a:p>
            <a:r>
              <a:rPr lang="en-US" sz="2800" dirty="0"/>
              <a:t>Location</a:t>
            </a:r>
          </a:p>
          <a:p>
            <a:r>
              <a:rPr lang="en-US" sz="2800" dirty="0"/>
              <a:t>Spending patterns</a:t>
            </a:r>
          </a:p>
          <a:p>
            <a:r>
              <a:rPr lang="en-US" sz="2800" dirty="0"/>
              <a:t>No predefined labels are given.</a:t>
            </a:r>
          </a:p>
          <a:p>
            <a:r>
              <a:rPr lang="en-US" sz="2800" b="1" dirty="0"/>
              <a:t>Used In:</a:t>
            </a:r>
            <a:r>
              <a:rPr lang="en-US" sz="2800" dirty="0"/>
              <a:t> Marketing campaigns, personalized offers, e-commerce platforms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7105446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F36E1-2C09-464E-BE93-94991FB08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K-Means Clustering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8C6C4-2409-40A1-B635-8FA459E25B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4251" y="1710932"/>
            <a:ext cx="9770603" cy="4121832"/>
          </a:xfrm>
        </p:spPr>
        <p:txBody>
          <a:bodyPr>
            <a:noAutofit/>
          </a:bodyPr>
          <a:lstStyle/>
          <a:p>
            <a:r>
              <a:rPr lang="en-US" sz="2800" dirty="0"/>
              <a:t>K-Means is one of the most popular clustering algorithms.</a:t>
            </a:r>
          </a:p>
          <a:p>
            <a:pPr marL="0" indent="0">
              <a:buNone/>
            </a:pPr>
            <a:r>
              <a:rPr lang="en-US" sz="2800" b="1" dirty="0"/>
              <a:t>Working Steps:</a:t>
            </a:r>
          </a:p>
          <a:p>
            <a:r>
              <a:rPr lang="en-US" sz="2800" dirty="0"/>
              <a:t>Choose the number of clusters (K)</a:t>
            </a:r>
          </a:p>
          <a:p>
            <a:r>
              <a:rPr lang="en-US" sz="2800" dirty="0"/>
              <a:t>Randomly initialize centroids</a:t>
            </a:r>
          </a:p>
          <a:p>
            <a:r>
              <a:rPr lang="en-US" sz="2800" dirty="0"/>
              <a:t>Assign each data point to the nearest centroid</a:t>
            </a:r>
          </a:p>
          <a:p>
            <a:r>
              <a:rPr lang="en-US" sz="2800" dirty="0"/>
              <a:t>Recalculate centroids</a:t>
            </a:r>
          </a:p>
          <a:p>
            <a:r>
              <a:rPr lang="en-US" sz="2800" dirty="0"/>
              <a:t>Repeat until convergence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6701998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968" y="909286"/>
            <a:ext cx="7802064" cy="5039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42220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266B9-5E18-4416-A4DF-AFD380ADF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506C0E-4616-4080-B639-EC5B79B69A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8" y="1798334"/>
            <a:ext cx="9603275" cy="345061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b="1" dirty="0"/>
              <a:t>Advantages:</a:t>
            </a:r>
          </a:p>
          <a:p>
            <a:r>
              <a:rPr lang="en-US" sz="2800" dirty="0"/>
              <a:t>Simple and efficient</a:t>
            </a:r>
          </a:p>
          <a:p>
            <a:r>
              <a:rPr lang="en-US" sz="2800" dirty="0"/>
              <a:t>Works well for large datasets</a:t>
            </a:r>
          </a:p>
          <a:p>
            <a:pPr marL="0" indent="0">
              <a:buNone/>
            </a:pPr>
            <a:r>
              <a:rPr lang="en-US" sz="2800" b="1" dirty="0"/>
              <a:t>Applications:</a:t>
            </a:r>
          </a:p>
          <a:p>
            <a:r>
              <a:rPr lang="en-US" sz="2800" dirty="0"/>
              <a:t>Market segmentation</a:t>
            </a:r>
          </a:p>
          <a:p>
            <a:r>
              <a:rPr lang="en-US" sz="2800" dirty="0"/>
              <a:t>Image compression</a:t>
            </a:r>
          </a:p>
          <a:p>
            <a:r>
              <a:rPr lang="en-US" sz="2800" dirty="0"/>
              <a:t>Customer behavior analysis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40278183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16385" y="137912"/>
            <a:ext cx="9604375" cy="1049337"/>
          </a:xfrm>
        </p:spPr>
        <p:txBody>
          <a:bodyPr/>
          <a:lstStyle/>
          <a:p>
            <a:r>
              <a:rPr lang="en-GB" dirty="0" smtClean="0"/>
              <a:t>Example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604434" y="846810"/>
            <a:ext cx="11856203" cy="1049337"/>
          </a:xfrm>
        </p:spPr>
        <p:txBody>
          <a:bodyPr>
            <a:normAutofit lnSpcReduction="10000"/>
          </a:bodyPr>
          <a:lstStyle/>
          <a:p>
            <a:r>
              <a:rPr lang="en-GB" sz="2800" dirty="0"/>
              <a:t>You are given a dataset containing </a:t>
            </a:r>
            <a:r>
              <a:rPr lang="en-GB" sz="2800" b="1" dirty="0"/>
              <a:t>monthly electricity usage (in kWh)</a:t>
            </a:r>
            <a:r>
              <a:rPr lang="en-GB" sz="2800" dirty="0"/>
              <a:t> of several households.</a:t>
            </a:r>
            <a:endParaRPr lang="en-IN" sz="28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3006024"/>
              </p:ext>
            </p:extLst>
          </p:nvPr>
        </p:nvGraphicFramePr>
        <p:xfrm>
          <a:off x="1219549" y="2004633"/>
          <a:ext cx="8436136" cy="4053840"/>
        </p:xfrm>
        <a:graphic>
          <a:graphicData uri="http://schemas.openxmlformats.org/drawingml/2006/table">
            <a:tbl>
              <a:tblPr/>
              <a:tblGrid>
                <a:gridCol w="4218068">
                  <a:extLst>
                    <a:ext uri="{9D8B030D-6E8A-4147-A177-3AD203B41FA5}">
                      <a16:colId xmlns:a16="http://schemas.microsoft.com/office/drawing/2014/main" val="373537318"/>
                    </a:ext>
                  </a:extLst>
                </a:gridCol>
                <a:gridCol w="4218068">
                  <a:extLst>
                    <a:ext uri="{9D8B030D-6E8A-4147-A177-3AD203B41FA5}">
                      <a16:colId xmlns:a16="http://schemas.microsoft.com/office/drawing/2014/main" val="2739766968"/>
                    </a:ext>
                  </a:extLst>
                </a:gridCol>
              </a:tblGrid>
              <a:tr h="802212">
                <a:tc>
                  <a:txBody>
                    <a:bodyPr/>
                    <a:lstStyle/>
                    <a:p>
                      <a:pPr algn="ctr"/>
                      <a:r>
                        <a:rPr lang="en-IN" sz="2800"/>
                        <a:t>Household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/>
                        <a:t>Monthly Electricity Usage (kWh)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5673010"/>
                  </a:ext>
                </a:extLst>
              </a:tr>
              <a:tr h="439923">
                <a:tc>
                  <a:txBody>
                    <a:bodyPr/>
                    <a:lstStyle/>
                    <a:p>
                      <a:pPr algn="ctr"/>
                      <a:r>
                        <a:rPr lang="en-IN" sz="2800"/>
                        <a:t>H1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 smtClean="0"/>
                        <a:t>420</a:t>
                      </a:r>
                      <a:endParaRPr lang="en-IN" sz="2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1607934"/>
                  </a:ext>
                </a:extLst>
              </a:tr>
              <a:tr h="439923">
                <a:tc>
                  <a:txBody>
                    <a:bodyPr/>
                    <a:lstStyle/>
                    <a:p>
                      <a:pPr algn="ctr"/>
                      <a:r>
                        <a:rPr lang="en-IN" sz="2800"/>
                        <a:t>H2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/>
                        <a:t>130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4478173"/>
                  </a:ext>
                </a:extLst>
              </a:tr>
              <a:tr h="439923">
                <a:tc>
                  <a:txBody>
                    <a:bodyPr/>
                    <a:lstStyle/>
                    <a:p>
                      <a:pPr algn="ctr"/>
                      <a:r>
                        <a:rPr lang="en-IN" sz="2800"/>
                        <a:t>H3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 smtClean="0"/>
                        <a:t>440</a:t>
                      </a:r>
                      <a:endParaRPr lang="en-IN" sz="2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8438513"/>
                  </a:ext>
                </a:extLst>
              </a:tr>
              <a:tr h="439923">
                <a:tc>
                  <a:txBody>
                    <a:bodyPr/>
                    <a:lstStyle/>
                    <a:p>
                      <a:pPr algn="ctr"/>
                      <a:r>
                        <a:rPr lang="en-IN" sz="2800" dirty="0"/>
                        <a:t>H4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 smtClean="0"/>
                        <a:t>120</a:t>
                      </a:r>
                      <a:endParaRPr lang="en-IN" sz="2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1734124"/>
                  </a:ext>
                </a:extLst>
              </a:tr>
              <a:tr h="439923">
                <a:tc>
                  <a:txBody>
                    <a:bodyPr/>
                    <a:lstStyle/>
                    <a:p>
                      <a:pPr algn="ctr"/>
                      <a:r>
                        <a:rPr lang="en-IN" sz="2800"/>
                        <a:t>H5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/>
                        <a:t>450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1591162"/>
                  </a:ext>
                </a:extLst>
              </a:tr>
              <a:tr h="439923">
                <a:tc>
                  <a:txBody>
                    <a:bodyPr/>
                    <a:lstStyle/>
                    <a:p>
                      <a:pPr algn="ctr"/>
                      <a:r>
                        <a:rPr lang="en-IN" sz="2800"/>
                        <a:t>H6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 smtClean="0"/>
                        <a:t>125</a:t>
                      </a:r>
                      <a:endParaRPr lang="en-IN" sz="2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56282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77896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81193" y="938042"/>
            <a:ext cx="10435525" cy="19554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/>
              <a:t>Expected Outcome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 dirty="0"/>
              <a:t>One cluster representing </a:t>
            </a:r>
            <a:r>
              <a:rPr lang="en-GB" sz="2800" b="1" dirty="0"/>
              <a:t>low electricity usage households</a:t>
            </a:r>
            <a:endParaRPr lang="en-GB" sz="28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 dirty="0"/>
              <a:t>One cluster representing </a:t>
            </a:r>
            <a:r>
              <a:rPr lang="en-GB" sz="2800" b="1" dirty="0"/>
              <a:t>high electricity usage households</a:t>
            </a:r>
            <a:endParaRPr lang="en-GB" sz="28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4277" y="3229809"/>
            <a:ext cx="4316668" cy="2788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0452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326F8-CBE8-438D-9AE1-549567D06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Example: Market Segmentation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0C2901-5E54-4ED2-BD38-666A1B197D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dirty="0"/>
              <a:t>A retail company groups customers into clusters such as:</a:t>
            </a:r>
          </a:p>
          <a:p>
            <a:r>
              <a:rPr lang="en-US" sz="2800" dirty="0"/>
              <a:t>High-value customers</a:t>
            </a:r>
          </a:p>
          <a:p>
            <a:r>
              <a:rPr lang="en-US" sz="2800" dirty="0"/>
              <a:t>Medium-value customers</a:t>
            </a:r>
          </a:p>
          <a:p>
            <a:r>
              <a:rPr lang="en-US" sz="2800" dirty="0"/>
              <a:t>Low-value customers</a:t>
            </a:r>
          </a:p>
          <a:p>
            <a:r>
              <a:rPr lang="en-US" sz="2800" dirty="0"/>
              <a:t>K-Means automatically creates clusters based on similarity.</a:t>
            </a:r>
          </a:p>
          <a:p>
            <a:r>
              <a:rPr lang="en-US" sz="2800" b="1" dirty="0"/>
              <a:t>Used In:</a:t>
            </a:r>
            <a:r>
              <a:rPr lang="en-US" sz="2800" dirty="0"/>
              <a:t> Amazon, Flipkart, Netflix recommendations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6336106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40D18-B294-4650-B6C0-8281AB261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DF9435-BCDE-4137-8DB1-91D8E50A04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3"/>
            <a:ext cx="10546457" cy="3373686"/>
          </a:xfrm>
        </p:spPr>
        <p:txBody>
          <a:bodyPr>
            <a:normAutofit/>
          </a:bodyPr>
          <a:lstStyle/>
          <a:p>
            <a:r>
              <a:rPr lang="en-US" sz="2400" dirty="0"/>
              <a:t>Imagine you have </a:t>
            </a:r>
            <a:r>
              <a:rPr lang="en-US" sz="2400" b="1" dirty="0"/>
              <a:t>6 students</a:t>
            </a:r>
            <a:r>
              <a:rPr lang="en-US" sz="2400" dirty="0"/>
              <a:t> and you only know their </a:t>
            </a:r>
            <a:r>
              <a:rPr lang="en-US" sz="2400" b="1" dirty="0" smtClean="0"/>
              <a:t>height</a:t>
            </a:r>
            <a:r>
              <a:rPr lang="en-US" sz="2400" dirty="0" smtClean="0"/>
              <a:t>.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You want to group them into </a:t>
            </a:r>
            <a:r>
              <a:rPr lang="en-US" sz="2400" b="1" dirty="0"/>
              <a:t>2 groups</a:t>
            </a:r>
            <a:r>
              <a:rPr lang="en-US" sz="2400" dirty="0"/>
              <a:t>, but you </a:t>
            </a:r>
            <a:r>
              <a:rPr lang="en-US" sz="2400" b="1" dirty="0"/>
              <a:t>don’t know the groups beforehand</a:t>
            </a:r>
            <a:r>
              <a:rPr lang="en-US" sz="2400" dirty="0"/>
              <a:t>.</a:t>
            </a:r>
            <a:endParaRPr lang="en-IN" sz="24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71A9A56-0FD9-482A-8BA6-0761E4ED9E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0494993"/>
              </p:ext>
            </p:extLst>
          </p:nvPr>
        </p:nvGraphicFramePr>
        <p:xfrm>
          <a:off x="4250172" y="3551445"/>
          <a:ext cx="4935392" cy="2560320"/>
        </p:xfrm>
        <a:graphic>
          <a:graphicData uri="http://schemas.openxmlformats.org/drawingml/2006/table">
            <a:tbl>
              <a:tblPr/>
              <a:tblGrid>
                <a:gridCol w="2467696">
                  <a:extLst>
                    <a:ext uri="{9D8B030D-6E8A-4147-A177-3AD203B41FA5}">
                      <a16:colId xmlns:a16="http://schemas.microsoft.com/office/drawing/2014/main" val="2192676482"/>
                    </a:ext>
                  </a:extLst>
                </a:gridCol>
                <a:gridCol w="2467696">
                  <a:extLst>
                    <a:ext uri="{9D8B030D-6E8A-4147-A177-3AD203B41FA5}">
                      <a16:colId xmlns:a16="http://schemas.microsoft.com/office/drawing/2014/main" val="2464452703"/>
                    </a:ext>
                  </a:extLst>
                </a:gridCol>
              </a:tblGrid>
              <a:tr h="352115">
                <a:tc>
                  <a:txBody>
                    <a:bodyPr/>
                    <a:lstStyle/>
                    <a:p>
                      <a:r>
                        <a:rPr lang="en-IN" dirty="0"/>
                        <a:t>Student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Height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3300981"/>
                  </a:ext>
                </a:extLst>
              </a:tr>
              <a:tr h="352115">
                <a:tc>
                  <a:txBody>
                    <a:bodyPr/>
                    <a:lstStyle/>
                    <a:p>
                      <a:r>
                        <a:rPr lang="en-IN" dirty="0"/>
                        <a:t>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3976868"/>
                  </a:ext>
                </a:extLst>
              </a:tr>
              <a:tr h="352115">
                <a:tc>
                  <a:txBody>
                    <a:bodyPr/>
                    <a:lstStyle/>
                    <a:p>
                      <a:r>
                        <a:rPr lang="en-IN"/>
                        <a:t>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152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2903825"/>
                  </a:ext>
                </a:extLst>
              </a:tr>
              <a:tr h="352115">
                <a:tc>
                  <a:txBody>
                    <a:bodyPr/>
                    <a:lstStyle/>
                    <a:p>
                      <a:r>
                        <a:rPr lang="en-IN"/>
                        <a:t>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155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7731979"/>
                  </a:ext>
                </a:extLst>
              </a:tr>
              <a:tr h="352115">
                <a:tc>
                  <a:txBody>
                    <a:bodyPr/>
                    <a:lstStyle/>
                    <a:p>
                      <a:r>
                        <a:rPr lang="en-IN"/>
                        <a:t>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170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1596536"/>
                  </a:ext>
                </a:extLst>
              </a:tr>
              <a:tr h="352115">
                <a:tc>
                  <a:txBody>
                    <a:bodyPr/>
                    <a:lstStyle/>
                    <a:p>
                      <a:r>
                        <a:rPr lang="en-IN" dirty="0"/>
                        <a:t>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172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9433911"/>
                  </a:ext>
                </a:extLst>
              </a:tr>
              <a:tr h="352115">
                <a:tc>
                  <a:txBody>
                    <a:bodyPr/>
                    <a:lstStyle/>
                    <a:p>
                      <a:r>
                        <a:rPr lang="en-IN"/>
                        <a:t>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175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72371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48537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DE6B4B-1CE4-48E7-9AF3-470E14E0056E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510020" y="247073"/>
            <a:ext cx="11363325" cy="41989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K-Means will:</a:t>
            </a:r>
          </a:p>
          <a:p>
            <a:r>
              <a:rPr lang="en-US" sz="2400" dirty="0"/>
              <a:t>Pick </a:t>
            </a:r>
            <a:r>
              <a:rPr lang="en-US" sz="2400" b="1" dirty="0"/>
              <a:t>2 random centers</a:t>
            </a:r>
            <a:endParaRPr lang="en-US" sz="2400" dirty="0"/>
          </a:p>
          <a:p>
            <a:r>
              <a:rPr lang="en-US" sz="2400" dirty="0"/>
              <a:t>Assign each student to the </a:t>
            </a:r>
            <a:r>
              <a:rPr lang="en-US" sz="2400" b="1" dirty="0"/>
              <a:t>nearest center</a:t>
            </a:r>
            <a:endParaRPr lang="en-US" sz="2400" dirty="0"/>
          </a:p>
          <a:p>
            <a:r>
              <a:rPr lang="en-US" sz="2400" dirty="0"/>
              <a:t>Move the centers to the </a:t>
            </a:r>
            <a:r>
              <a:rPr lang="en-US" sz="2400" b="1" dirty="0"/>
              <a:t>average of the group</a:t>
            </a:r>
            <a:endParaRPr lang="en-US" sz="2400" dirty="0"/>
          </a:p>
          <a:p>
            <a:r>
              <a:rPr lang="en-US" sz="2400" dirty="0"/>
              <a:t>Repeat until groups stop changing</a:t>
            </a:r>
          </a:p>
          <a:p>
            <a:pPr marL="0" indent="0">
              <a:buNone/>
            </a:pPr>
            <a:r>
              <a:rPr lang="en-US" sz="2400" dirty="0"/>
              <a:t>Result:</a:t>
            </a:r>
          </a:p>
          <a:p>
            <a:r>
              <a:rPr lang="en-US" sz="2400" dirty="0"/>
              <a:t>Group 1 → </a:t>
            </a:r>
            <a:r>
              <a:rPr lang="en-US" sz="2400" dirty="0" smtClean="0"/>
              <a:t>Short students</a:t>
            </a:r>
            <a:endParaRPr lang="en-US" sz="2400" dirty="0"/>
          </a:p>
          <a:p>
            <a:r>
              <a:rPr lang="en-US" sz="2400" dirty="0"/>
              <a:t>Group 2 → </a:t>
            </a:r>
            <a:r>
              <a:rPr lang="en-US" sz="2400" dirty="0" smtClean="0"/>
              <a:t>Tall students</a:t>
            </a:r>
            <a:endParaRPr lang="en-US" sz="2400" dirty="0"/>
          </a:p>
          <a:p>
            <a:r>
              <a:rPr lang="en-US" sz="2400" dirty="0"/>
              <a:t>👉 </a:t>
            </a:r>
            <a:r>
              <a:rPr lang="en-US" sz="2400" b="1" dirty="0"/>
              <a:t>No labels were given</a:t>
            </a:r>
            <a:r>
              <a:rPr lang="en-US" sz="2400" dirty="0"/>
              <a:t>, K-Means found patterns by itself.</a:t>
            </a:r>
          </a:p>
          <a:p>
            <a:pPr marL="0" indent="0">
              <a:buNone/>
            </a:pPr>
            <a:endParaRPr lang="en-US" sz="2400" dirty="0"/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0772725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0FF31-FCB5-4B48-B6BF-895EB670B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Confusion Matrix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A4772F-F132-457E-B045-699E3A8ED9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4211" y="1794486"/>
            <a:ext cx="10752667" cy="4631267"/>
          </a:xfrm>
        </p:spPr>
        <p:txBody>
          <a:bodyPr>
            <a:normAutofit/>
          </a:bodyPr>
          <a:lstStyle/>
          <a:p>
            <a:r>
              <a:rPr lang="en-IN" sz="2400" dirty="0"/>
              <a:t>A Confusion Matrix is a performance evaluation tool for classification models.</a:t>
            </a:r>
          </a:p>
          <a:p>
            <a:r>
              <a:rPr lang="en-IN" sz="2400" dirty="0"/>
              <a:t>Structure of Confusion Matrix:</a:t>
            </a:r>
          </a:p>
          <a:p>
            <a:endParaRPr lang="en-IN" sz="2400" dirty="0"/>
          </a:p>
          <a:p>
            <a:endParaRPr lang="en-IN" sz="2400" dirty="0"/>
          </a:p>
          <a:p>
            <a:endParaRPr lang="en-IN" sz="1400" dirty="0"/>
          </a:p>
        </p:txBody>
      </p:sp>
      <p:pic>
        <p:nvPicPr>
          <p:cNvPr id="11266" name="Picture 2" descr="Measuring Performance: The Confusion Matrix – Glass Box Medicine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116"/>
          <a:stretch/>
        </p:blipFill>
        <p:spPr bwMode="auto">
          <a:xfrm>
            <a:off x="286735" y="4238197"/>
            <a:ext cx="5536986" cy="2394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Confusion Matrix in Action: Case Studies in Healthcare, Finance, and  E-commerce | by Jatniwalafizza | Mediu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4671" y="2611903"/>
            <a:ext cx="5857298" cy="40208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45003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6E858-9981-45D3-AFBD-2BC268757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Example: Medical Disease Diagnosis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E58191-3A4A-4F0A-9F89-B89B04D177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0861" y="1853754"/>
            <a:ext cx="9783993" cy="3612591"/>
          </a:xfrm>
        </p:spPr>
        <p:txBody>
          <a:bodyPr>
            <a:normAutofit/>
          </a:bodyPr>
          <a:lstStyle/>
          <a:p>
            <a:r>
              <a:rPr lang="en-US" sz="2800" dirty="0"/>
              <a:t>A confusion matrix evaluates how well a model predicts disease.</a:t>
            </a:r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</p:txBody>
      </p:sp>
      <p:pic>
        <p:nvPicPr>
          <p:cNvPr id="13314" name="Picture 2" descr="A proposed technique for predicting heart disease using machine learning  algorithms and an explainable AI method | Scientific Reports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09"/>
          <a:stretch/>
        </p:blipFill>
        <p:spPr bwMode="auto">
          <a:xfrm>
            <a:off x="0" y="2743198"/>
            <a:ext cx="4973462" cy="3323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5510940" y="2851177"/>
            <a:ext cx="6453752" cy="33512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Helps doctors understand errors and improve diagnosis accuracy.</a:t>
            </a:r>
          </a:p>
          <a:p>
            <a:pPr>
              <a:lnSpc>
                <a:spcPct val="150000"/>
              </a:lnSpc>
            </a:pPr>
            <a:r>
              <a:rPr lang="en-US" sz="2400" b="1" dirty="0"/>
              <a:t>Used In:</a:t>
            </a:r>
            <a:r>
              <a:rPr lang="en-US" sz="2400" dirty="0"/>
              <a:t> Healthcare, medical testing, diagnostic systems</a:t>
            </a:r>
          </a:p>
          <a:p>
            <a:pPr>
              <a:lnSpc>
                <a:spcPct val="150000"/>
              </a:lnSpc>
            </a:pPr>
            <a:endParaRPr lang="en-US" sz="2400" dirty="0"/>
          </a:p>
          <a:p>
            <a:pPr>
              <a:lnSpc>
                <a:spcPct val="150000"/>
              </a:lnSpc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74632024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39486" y="0"/>
            <a:ext cx="11902698" cy="4584616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2800" b="1" dirty="0"/>
              <a:t>Performance Metrics:</a:t>
            </a:r>
          </a:p>
          <a:p>
            <a:r>
              <a:rPr lang="en-US" sz="2800" b="1" dirty="0"/>
              <a:t>Accuracy</a:t>
            </a:r>
            <a:r>
              <a:rPr lang="en-US" sz="2800" dirty="0"/>
              <a:t> = (TP + TN) / Total</a:t>
            </a:r>
          </a:p>
          <a:p>
            <a:r>
              <a:rPr lang="en-US" sz="2800" b="1" dirty="0"/>
              <a:t>Precision</a:t>
            </a:r>
            <a:r>
              <a:rPr lang="en-US" sz="2800" dirty="0"/>
              <a:t> = TP / (TP + FP)</a:t>
            </a:r>
          </a:p>
          <a:p>
            <a:r>
              <a:rPr lang="en-US" sz="2800" b="1" dirty="0"/>
              <a:t>Recall</a:t>
            </a:r>
            <a:r>
              <a:rPr lang="en-US" sz="2800" dirty="0"/>
              <a:t> = TP / (TP + FN)</a:t>
            </a:r>
          </a:p>
          <a:p>
            <a:r>
              <a:rPr lang="en-US" sz="2800" b="1" dirty="0" smtClean="0"/>
              <a:t>F1-Score</a:t>
            </a:r>
            <a:r>
              <a:rPr lang="en-US" sz="2800" dirty="0" smtClean="0"/>
              <a:t> = Harmonic mean of Precision and Recall</a:t>
            </a:r>
          </a:p>
          <a:p>
            <a:r>
              <a:rPr lang="en-GB" sz="2800" dirty="0" smtClean="0"/>
              <a:t>We can calculate these:</a:t>
            </a:r>
          </a:p>
          <a:p>
            <a:pPr marL="0" indent="0">
              <a:buNone/>
            </a:pPr>
            <a:r>
              <a:rPr lang="en-GB" sz="2800" dirty="0" smtClean="0"/>
              <a:t>	TPR – True Positive Rate, </a:t>
            </a:r>
          </a:p>
          <a:p>
            <a:pPr marL="0" indent="0">
              <a:buNone/>
            </a:pPr>
            <a:r>
              <a:rPr lang="en-GB" sz="2800" dirty="0"/>
              <a:t>	</a:t>
            </a:r>
            <a:r>
              <a:rPr lang="en-GB" sz="2800" dirty="0" smtClean="0"/>
              <a:t>FPR – False Positive Rate,</a:t>
            </a:r>
          </a:p>
          <a:p>
            <a:pPr marL="0" indent="0">
              <a:buNone/>
            </a:pPr>
            <a:r>
              <a:rPr lang="en-GB" sz="2800" dirty="0"/>
              <a:t>	</a:t>
            </a:r>
            <a:r>
              <a:rPr lang="en-GB" sz="2800" dirty="0" smtClean="0"/>
              <a:t>FNR – False Negative Rate,</a:t>
            </a:r>
          </a:p>
          <a:p>
            <a:pPr marL="0" indent="0">
              <a:buNone/>
            </a:pPr>
            <a:r>
              <a:rPr lang="en-GB" sz="2800" dirty="0"/>
              <a:t>	</a:t>
            </a:r>
            <a:r>
              <a:rPr lang="en-GB" sz="2800" dirty="0" smtClean="0"/>
              <a:t>TNR – True Negative Rate. </a:t>
            </a:r>
            <a:endParaRPr lang="en-IN" sz="2800" dirty="0"/>
          </a:p>
        </p:txBody>
      </p:sp>
      <p:pic>
        <p:nvPicPr>
          <p:cNvPr id="12290" name="Picture 2" descr="TP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6435" y="4445131"/>
            <a:ext cx="5981753" cy="1132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2" name="Picture 4" descr="FP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6435" y="5613472"/>
            <a:ext cx="5981753" cy="1244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3521998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166</TotalTime>
  <Words>894</Words>
  <Application>Microsoft Office PowerPoint</Application>
  <PresentationFormat>Widescreen</PresentationFormat>
  <Paragraphs>173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6" baseType="lpstr">
      <vt:lpstr>Arial</vt:lpstr>
      <vt:lpstr>Gill Sans MT</vt:lpstr>
      <vt:lpstr>Open Sans</vt:lpstr>
      <vt:lpstr>Gallery</vt:lpstr>
      <vt:lpstr>MACHINE LEARNING ALGORITHMS</vt:lpstr>
      <vt:lpstr>Introduction to Machine Learning</vt:lpstr>
      <vt:lpstr>PowerPoint Presentation</vt:lpstr>
      <vt:lpstr>Classification</vt:lpstr>
      <vt:lpstr>Example: Email Spam Detection</vt:lpstr>
      <vt:lpstr>Support Vector Machines (SVM)</vt:lpstr>
      <vt:lpstr>Example: Face Recognition System </vt:lpstr>
      <vt:lpstr>Naive Bayes Classifier</vt:lpstr>
      <vt:lpstr>PowerPoint Presentation</vt:lpstr>
      <vt:lpstr>Example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Example: SMS and Email Spam Filtering</vt:lpstr>
      <vt:lpstr>Decision Trees</vt:lpstr>
      <vt:lpstr>PowerPoint Presentation</vt:lpstr>
      <vt:lpstr>Example: Loan Approval System </vt:lpstr>
      <vt:lpstr>Clustering</vt:lpstr>
      <vt:lpstr>Example: Customer Segmentation</vt:lpstr>
      <vt:lpstr>K-Means Clustering</vt:lpstr>
      <vt:lpstr>PowerPoint Presentation</vt:lpstr>
      <vt:lpstr>PowerPoint Presentation</vt:lpstr>
      <vt:lpstr>Example</vt:lpstr>
      <vt:lpstr>PowerPoint Presentation</vt:lpstr>
      <vt:lpstr>Example: Market Segmentation </vt:lpstr>
      <vt:lpstr>Example</vt:lpstr>
      <vt:lpstr>PowerPoint Presentation</vt:lpstr>
      <vt:lpstr>Confusion Matrix</vt:lpstr>
      <vt:lpstr>Example: Medical Disease Diagnosis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ALGORITHMS</dc:title>
  <dc:creator>ADMIN</dc:creator>
  <cp:lastModifiedBy>Admin</cp:lastModifiedBy>
  <cp:revision>29</cp:revision>
  <dcterms:created xsi:type="dcterms:W3CDTF">2025-12-19T04:48:23Z</dcterms:created>
  <dcterms:modified xsi:type="dcterms:W3CDTF">2025-12-31T06:10:50Z</dcterms:modified>
</cp:coreProperties>
</file>